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70" r:id="rId3"/>
    <p:sldId id="284" r:id="rId4"/>
    <p:sldId id="285" r:id="rId5"/>
    <p:sldId id="286" r:id="rId6"/>
    <p:sldId id="287" r:id="rId7"/>
    <p:sldId id="290" r:id="rId8"/>
    <p:sldId id="306" r:id="rId9"/>
    <p:sldId id="294" r:id="rId10"/>
    <p:sldId id="309" r:id="rId11"/>
    <p:sldId id="31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7046" autoAdjust="0"/>
  </p:normalViewPr>
  <p:slideViewPr>
    <p:cSldViewPr>
      <p:cViewPr varScale="1">
        <p:scale>
          <a:sx n="67" d="100"/>
          <a:sy n="67" d="100"/>
        </p:scale>
        <p:origin x="126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4A26B-89A5-4723-AF52-EE3362430EE4}" type="datetimeFigureOut">
              <a:rPr lang="en-US" smtClean="0"/>
              <a:t>9/15/2020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ECAFD-70C5-470D-8745-38DF4EB13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3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564A2-CAD0-49A4-ACAC-84965D4830FA}" type="datetime1">
              <a:rPr lang="en-US" smtClean="0"/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79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0DF9-4591-4E02-A628-DA2B53930F63}" type="datetime1">
              <a:rPr lang="en-US" smtClean="0"/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6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802E8-AB68-4E4B-93A4-0016019C6EF5}" type="datetime1">
              <a:rPr lang="en-US" smtClean="0"/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93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0B79A-FE6B-4F8C-9C0A-97617D55B2D7}" type="datetime1">
              <a:rPr lang="en-US" smtClean="0"/>
              <a:t>9/15/2020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42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47CF5-66E9-4EF5-BC6A-FD7C10D69A2B}" type="datetime1">
              <a:rPr lang="en-US" smtClean="0"/>
              <a:t>9/15/2020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5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6497C-38D3-491B-AF0C-1605E2BE75DC}" type="datetime1">
              <a:rPr lang="en-US" smtClean="0"/>
              <a:t>9/15/2020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89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61639-C01C-4633-93E0-5B7016E92B43}" type="datetime1">
              <a:rPr lang="en-US" smtClean="0"/>
              <a:t>9/15/2020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09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F1E94-61F3-4EE2-B76F-FE270BC25890}" type="datetime1">
              <a:rPr lang="en-US" smtClean="0"/>
              <a:t>9/15/2020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9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5A1A2-9907-4E35-A53A-773CA11A57F0}" type="datetime1">
              <a:rPr lang="en-US" smtClean="0"/>
              <a:t>9/15/2020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1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B7EB6-9439-4149-AF35-C32BD63EFFFB}" type="datetime1">
              <a:rPr lang="en-US" smtClean="0"/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9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DCD5-E080-435D-BEA8-C5DB8CBC124C}" type="datetime1">
              <a:rPr lang="en-US" smtClean="0"/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4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B15D1-7C30-43C5-A033-D1AE430BC1A9}" type="datetime1">
              <a:rPr lang="en-US" smtClean="0"/>
              <a:t>9/15/2020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F968A-256A-495E-8432-9EB993DE397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995059" cy="99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7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524000"/>
            <a:ext cx="8763000" cy="14700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 Structures and Algorithms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(Introduction)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386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Farrukh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Zeshan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Computer Science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76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342AEAB-3C94-4C45-AED2-6650F23174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3048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Attributes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8BB4FA7-D41E-4367-ABDF-B9AEEC51E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1148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software </a:t>
            </a:r>
          </a:p>
          <a:p>
            <a:pPr lvl="1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code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Maintainable</a:t>
            </a:r>
          </a:p>
          <a:p>
            <a:pPr lvl="2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modify existing functionality</a:t>
            </a:r>
          </a:p>
          <a:p>
            <a:pPr lvl="2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of changes is minimal</a:t>
            </a:r>
          </a:p>
          <a:p>
            <a:pPr lvl="2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should be local in effect</a:t>
            </a:r>
          </a:p>
          <a:p>
            <a:pPr lvl="2">
              <a:lnSpc>
                <a:spcPct val="90000"/>
              </a:lnSpc>
              <a:spcBef>
                <a:spcPts val="1200"/>
              </a:spcBef>
              <a:spcAft>
                <a:spcPts val="30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DB3AF7-C751-4D5F-BEBF-5D88FEB3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2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E4D63FF-0C04-4B28-A729-C4073A8C0C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AA25CEE-A64C-489F-B233-997045E01D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processing.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data.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0948E8-1B18-47F8-9E58-0376CFB3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>
            <a:extLst>
              <a:ext uri="{FF2B5EF4-FFF2-40B4-BE49-F238E27FC236}">
                <a16:creationId xmlns:a16="http://schemas.microsoft.com/office/drawing/2014/main" id="{ECD13251-760A-4B1E-8E54-7FEDDAEECD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953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a key from variables: A0, A2, A3, …, A9</a:t>
            </a:r>
          </a:p>
          <a:p>
            <a:pPr>
              <a:buFontTx/>
              <a:buNone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= false;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(key = = 0)	found = true;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(key = = A1)	found = true;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(key = = A2)	found = true;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(key = = A3)	found = true;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(key = = A4)	found = true;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(key = = A5)	found = true;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(key = = A6)	found = true;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(key = = A7)	found = true;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(key = = A8)	found = true;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(key = = A9)	found = true;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CC302A-4128-4AE7-A4D5-8F47F44BF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/>
              <a:t>4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1C65ECA-33F8-42D0-B74C-48B8A0CEB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5">
            <a:extLst>
              <a:ext uri="{FF2B5EF4-FFF2-40B4-BE49-F238E27FC236}">
                <a16:creationId xmlns:a16="http://schemas.microsoft.com/office/drawing/2014/main" id="{3467BEAD-CDFC-4690-B8AB-E0131FAAA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828800"/>
            <a:ext cx="77724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endParaRPr lang="en-US" altLang="en-US" sz="20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800" b="1" dirty="0"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4D466C-8B72-4431-9121-8C47EFE6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FDFC5-9C05-4CA8-A05D-071A9BE4F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4525963"/>
          </a:xfrm>
        </p:spPr>
        <p:txBody>
          <a:bodyPr>
            <a:no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a key from variables: A0, A2, A3, …, A9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= false;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10;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(A[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= key)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= true;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C3A90FA-E160-40CB-9BE4-6DB6AAEF4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4">
            <a:extLst>
              <a:ext uri="{FF2B5EF4-FFF2-40B4-BE49-F238E27FC236}">
                <a16:creationId xmlns:a16="http://schemas.microsoft.com/office/drawing/2014/main" id="{5B68C39A-ABFF-42D5-9E0A-415C241C9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914400"/>
            <a:ext cx="89916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a key from </a:t>
            </a:r>
            <a:r>
              <a:rPr lang="en-US" altLang="en-US" dirty="0">
                <a:cs typeface="Times New Roman" panose="02020603050405020304" pitchFamily="18" charset="0"/>
              </a:rPr>
              <a:t>an array A in ascending order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90A1B1-48EE-4B4B-BC36-DE203160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CC4A9-9A23-4A91-BB94-97FA4359F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53393"/>
            <a:ext cx="8229600" cy="4525963"/>
          </a:xfrm>
        </p:spPr>
        <p:txBody>
          <a:bodyPr>
            <a:noAutofit/>
          </a:bodyPr>
          <a:lstStyle/>
          <a:p>
            <a:pPr lvl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= false; low = 0; high = N – 1;</a:t>
            </a:r>
          </a:p>
          <a:p>
            <a:pPr lvl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(( ! found) &amp;&amp; ( low &lt;= high))</a:t>
            </a:r>
          </a:p>
          <a:p>
            <a:pPr lvl="2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3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 = (low + high)/2;</a:t>
            </a:r>
          </a:p>
          <a:p>
            <a:pPr lvl="3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(A[mid] = = key) 		</a:t>
            </a:r>
          </a:p>
          <a:p>
            <a:pPr lvl="3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found = true;</a:t>
            </a:r>
          </a:p>
          <a:p>
            <a:pPr lvl="3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if (A[mid] &gt; key)		</a:t>
            </a:r>
          </a:p>
          <a:p>
            <a:pPr lvl="3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high   = mid – 1;</a:t>
            </a:r>
          </a:p>
          <a:p>
            <a:pPr lvl="3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			</a:t>
            </a:r>
          </a:p>
          <a:p>
            <a:pPr lvl="3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low    = mid + 1;</a:t>
            </a:r>
          </a:p>
          <a:p>
            <a:pPr lvl="2"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77FB404-CCE7-4199-9090-2E9B9D9EDA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72260C5-79E4-491F-93FE-7C2B3EBB0C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6300" y="4445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Estimation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3274025F-6F52-4857-A05E-BB38F3DDF9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1752600"/>
            <a:ext cx="7162800" cy="281940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E28B61-6945-40DA-9D7F-61CCFDB4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>
            <a:extLst>
              <a:ext uri="{FF2B5EF4-FFF2-40B4-BE49-F238E27FC236}">
                <a16:creationId xmlns:a16="http://schemas.microsoft.com/office/drawing/2014/main" id="{21EA3FB1-B262-49C7-A7AA-532862E86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7700" y="1447800"/>
            <a:ext cx="7848600" cy="4648200"/>
          </a:xfrm>
        </p:spPr>
        <p:txBody>
          <a:bodyPr>
            <a:normAutofit/>
          </a:bodyPr>
          <a:lstStyle/>
          <a:p>
            <a:pPr marL="609600" indent="-609600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consider each statement as a single step</a:t>
            </a:r>
          </a:p>
          <a:p>
            <a:pPr marL="609600" indent="-609600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count total number of steps</a:t>
            </a:r>
          </a:p>
          <a:p>
            <a:pPr marL="990600" lvl="1" indent="-533400">
              <a:buFontTx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count for each statement </a:t>
            </a: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0600" lvl="1" indent="-533400">
              <a:buFontTx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of each statement</a:t>
            </a:r>
          </a:p>
          <a:p>
            <a:pPr marL="990600" lvl="1" indent="-533400">
              <a:buFontTx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 sum these counts to get the total step count </a:t>
            </a: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3AB585-0E8B-4EFE-A923-10ABF726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8975968-FDFA-4832-946D-4F2B7426A5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6300" y="4445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Estimation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1548E6E-0403-4B01-9959-8580AC6D9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774335"/>
              </p:ext>
            </p:extLst>
          </p:nvPr>
        </p:nvGraphicFramePr>
        <p:xfrm>
          <a:off x="914400" y="1600200"/>
          <a:ext cx="7543801" cy="396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3689">
                  <a:extLst>
                    <a:ext uri="{9D8B030D-6E8A-4147-A177-3AD203B41FA5}">
                      <a16:colId xmlns:a16="http://schemas.microsoft.com/office/drawing/2014/main" val="3330995919"/>
                    </a:ext>
                  </a:extLst>
                </a:gridCol>
                <a:gridCol w="931334">
                  <a:extLst>
                    <a:ext uri="{9D8B030D-6E8A-4147-A177-3AD203B41FA5}">
                      <a16:colId xmlns:a16="http://schemas.microsoft.com/office/drawing/2014/main" val="1916254009"/>
                    </a:ext>
                  </a:extLst>
                </a:gridCol>
                <a:gridCol w="1241778">
                  <a:extLst>
                    <a:ext uri="{9D8B030D-6E8A-4147-A177-3AD203B41FA5}">
                      <a16:colId xmlns:a16="http://schemas.microsoft.com/office/drawing/2014/main" val="328776933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80207783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Statement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</a:rPr>
                        <a:t>S/e</a:t>
                      </a:r>
                      <a:endParaRPr lang="en-US" sz="2000" b="1" kern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Frequency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Total Steps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03446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float sum (float list[], int n)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6147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{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372431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4572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float temp = 0;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5695838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4572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int i;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361041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4572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for (i=0; i&lt;n; i++)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n+1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n+1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15364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temp+=list[i];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781943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45720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return temp;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21785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}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610479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kern="0" dirty="0">
                          <a:effectLst/>
                        </a:rPr>
                        <a:t>Total</a:t>
                      </a:r>
                      <a:endParaRPr lang="en-US" sz="2000" b="1" kern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2n+4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483836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B12CF-0C2D-4006-8D47-C9A7F0AE3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F3C3E7E-350B-4EA4-8E6A-11E92908E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6300" y="4445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Estimation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2431711-88E4-4930-AAB1-A45A2C3D6C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790700"/>
            <a:ext cx="5715000" cy="32766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swap (int a, int b)			</a:t>
            </a:r>
          </a:p>
          <a:p>
            <a:pPr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temp = a;</a:t>
            </a:r>
          </a:p>
          <a:p>
            <a:pPr lvl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b;</a:t>
            </a:r>
          </a:p>
          <a:p>
            <a:pPr lvl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temp;</a:t>
            </a:r>
          </a:p>
          <a:p>
            <a:pPr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67A1D9-93BA-4EA8-B925-D00953EDC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77D4B58-6629-41D3-8F33-760171C79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6300" y="4445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Estimation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5">
            <a:extLst>
              <a:ext uri="{FF2B5EF4-FFF2-40B4-BE49-F238E27FC236}">
                <a16:creationId xmlns:a16="http://schemas.microsoft.com/office/drawing/2014/main" id="{3467BEAD-CDFC-4690-B8AB-E0131FAAA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828800"/>
            <a:ext cx="77724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endParaRPr lang="en-US" altLang="en-US" sz="20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sz="20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800" b="1" dirty="0"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4D466C-8B72-4431-9121-8C47EFE6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F968A-256A-495E-8432-9EB993DE397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FDFC5-9C05-4CA8-A05D-071A9BE4F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1470818"/>
            <a:ext cx="7086600" cy="4525963"/>
          </a:xfrm>
        </p:spPr>
        <p:txBody>
          <a:bodyPr>
            <a:noAutofit/>
          </a:bodyPr>
          <a:lstStyle/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= false;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(A[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= key)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= true;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63D1A80-8F8D-4C49-A69D-A484E800C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6300" y="4445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Estimation</a:t>
            </a:r>
          </a:p>
        </p:txBody>
      </p:sp>
    </p:spTree>
    <p:extLst>
      <p:ext uri="{BB962C8B-B14F-4D97-AF65-F5344CB8AC3E}">
        <p14:creationId xmlns:p14="http://schemas.microsoft.com/office/powerpoint/2010/main" val="16057238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12692</TotalTime>
  <Words>540</Words>
  <Application>Microsoft Office PowerPoint</Application>
  <PresentationFormat>On-screen Show (4:3)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Data Structures and Algorithms  (Introduction)</vt:lpstr>
      <vt:lpstr>Software Attributes</vt:lpstr>
      <vt:lpstr>Data Structures</vt:lpstr>
      <vt:lpstr>Data Structures</vt:lpstr>
      <vt:lpstr>Data Structures</vt:lpstr>
      <vt:lpstr>Data Structures</vt:lpstr>
      <vt:lpstr>Efficiency Estimation</vt:lpstr>
      <vt:lpstr>Efficiency Estimation</vt:lpstr>
      <vt:lpstr>Efficiency Estimation</vt:lpstr>
      <vt:lpstr>Efficiency Estimation</vt:lpstr>
      <vt:lpstr>Efficiency Estimation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Farrukh Zeshan</dc:creator>
  <cp:lastModifiedBy>User</cp:lastModifiedBy>
  <cp:revision>238</cp:revision>
  <dcterms:created xsi:type="dcterms:W3CDTF">2020-05-06T13:05:11Z</dcterms:created>
  <dcterms:modified xsi:type="dcterms:W3CDTF">2020-09-15T07:02:21Z</dcterms:modified>
</cp:coreProperties>
</file>