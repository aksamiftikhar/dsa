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93" r:id="rId3"/>
    <p:sldId id="281" r:id="rId4"/>
    <p:sldId id="273" r:id="rId5"/>
    <p:sldId id="274" r:id="rId6"/>
    <p:sldId id="272" r:id="rId7"/>
    <p:sldId id="286" r:id="rId8"/>
    <p:sldId id="259" r:id="rId9"/>
    <p:sldId id="260" r:id="rId10"/>
    <p:sldId id="287" r:id="rId11"/>
    <p:sldId id="285" r:id="rId12"/>
    <p:sldId id="270" r:id="rId13"/>
    <p:sldId id="271" r:id="rId14"/>
    <p:sldId id="257" r:id="rId15"/>
    <p:sldId id="279" r:id="rId16"/>
    <p:sldId id="283" r:id="rId17"/>
    <p:sldId id="282" r:id="rId18"/>
    <p:sldId id="278" r:id="rId19"/>
    <p:sldId id="280" r:id="rId20"/>
    <p:sldId id="284" r:id="rId21"/>
    <p:sldId id="29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5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8CCF-162B-48E4-8DC3-8B7AEAD3F6F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44DE0-9D17-4589-BD68-6C08174F7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7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A52753F-833B-48C7-A423-57A402B32A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EFF93E-8001-41F2-9C92-A402611840EE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9732A6B6-2E5C-4AE9-9277-76BA6066EB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8110344-B5D5-400C-9013-EF3E837F4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F2A4B9A-90E7-4FDF-B099-8A3677A896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07A24C-3AEC-4BE8-8E92-E88DE7D74094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EA0AF754-F33A-42B5-9F70-E082E8B898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E53D01B-C540-4E7C-8587-24AC3F6B5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E40F5C-BF6C-442E-B602-5CEE4BA67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2D933E-5635-4759-A498-D3AA4F1DEF1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EF8B94EE-EAA4-4CBF-AD64-6116660A8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D18275C-392C-47BE-BBDD-7544125AA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Note that “private:” is the default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49A5-8DFB-48A6-9939-959EE86AA338}" type="datetime1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9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33CD-4EA7-45FD-9B4E-C17AED62B284}" type="datetime1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1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1AF6-82E1-4DCC-B752-AFA41D4EDA6F}" type="datetime1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B243A-1485-4DC5-8BF2-0A70F0B92310}" type="datetime1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5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7DAF-EB69-4A6F-B60D-67C1F4929D59}" type="datetime1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3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F7EF-3F82-4AB7-8BA4-9F5B2198048A}" type="datetime1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9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CA5D-3B92-42AC-95E0-A7ECCB88FA39}" type="datetime1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2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8089-8DA6-44BB-8CB2-DA5CECC02B3C}" type="datetime1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6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E594-14D3-455D-BF90-BBA31C790852}" type="datetime1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6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F724B-DBD8-4756-9027-091D928E3E15}" type="datetime1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99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4BA4-94DF-4106-9175-E5510E8E85AC}" type="datetime1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4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AF6E0-064E-4027-B777-EE4749CD21C7}" type="datetime1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6924F-0EFE-457B-97AD-E3772DF4E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9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8F271-FF95-4057-BE21-453A9566C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Primer (Part 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2AEFE-C0F2-4DD8-B346-EF30121C0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C/Java to C++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F2AD1-BBBC-4C24-9167-7FF42ADA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4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7C25-11F2-48A6-8741-43248D1B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2E2B5-461D-447F-86E6-B26643FC0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D0C3F-97EC-4ECA-B791-6FAD270244BD}"/>
              </a:ext>
            </a:extLst>
          </p:cNvPr>
          <p:cNvSpPr/>
          <p:nvPr/>
        </p:nvSpPr>
        <p:spPr>
          <a:xfrm>
            <a:off x="3383822" y="2767280"/>
            <a:ext cx="237635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/>
              <a:t>Part 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B3D3-9A2C-4FE4-8BE8-AFA9FA6B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0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73EC-9057-4C3E-A9BF-29BD0045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Similarities with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F375B-6169-4699-80D4-D30A08FF6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is an extension of C.</a:t>
            </a:r>
          </a:p>
          <a:p>
            <a:pPr lvl="1"/>
            <a:r>
              <a:rPr lang="en-US" dirty="0"/>
              <a:t>Everything you studied in programming fundamentals course applies here as well + there are some new features</a:t>
            </a:r>
          </a:p>
          <a:p>
            <a:r>
              <a:rPr lang="en-US" dirty="0"/>
              <a:t>Following programming constructs have same syntax in C</a:t>
            </a:r>
          </a:p>
          <a:p>
            <a:pPr lvl="1"/>
            <a:r>
              <a:rPr lang="en-US" dirty="0"/>
              <a:t>Data types, variable declaration, Operators, Conditional statements, looping statements, function definition, structs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3CA4A-0E36-42DD-8B10-B78B3E43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9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4B49-C0D6-4088-9E79-32CA87DF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new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5285-7E31-40AA-A162-BC9FEEA54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43380"/>
            <a:ext cx="7886700" cy="4649494"/>
          </a:xfrm>
        </p:spPr>
        <p:txBody>
          <a:bodyPr>
            <a:normAutofit/>
          </a:bodyPr>
          <a:lstStyle/>
          <a:p>
            <a:r>
              <a:rPr lang="en-US" dirty="0"/>
              <a:t>Input/output statements (Much simpler than C)</a:t>
            </a:r>
          </a:p>
          <a:p>
            <a:pPr lvl="1"/>
            <a:r>
              <a:rPr lang="en-US" dirty="0" err="1"/>
              <a:t>cin</a:t>
            </a:r>
            <a:r>
              <a:rPr lang="en-US" dirty="0"/>
              <a:t> vs </a:t>
            </a:r>
            <a:r>
              <a:rPr lang="en-US" dirty="0" err="1"/>
              <a:t>scanf</a:t>
            </a:r>
            <a:endParaRPr lang="en-US" dirty="0"/>
          </a:p>
          <a:p>
            <a:pPr lvl="1"/>
            <a:r>
              <a:rPr lang="en-US" dirty="0" err="1"/>
              <a:t>cout</a:t>
            </a:r>
            <a:r>
              <a:rPr lang="en-US" dirty="0"/>
              <a:t> vs </a:t>
            </a:r>
            <a:r>
              <a:rPr lang="en-US" dirty="0" err="1"/>
              <a:t>printf</a:t>
            </a:r>
            <a:endParaRPr lang="en-US" dirty="0"/>
          </a:p>
          <a:p>
            <a:pPr lvl="1"/>
            <a:r>
              <a:rPr lang="en-US" dirty="0"/>
              <a:t>However, you can still use </a:t>
            </a:r>
            <a:r>
              <a:rPr lang="en-US" dirty="0" err="1"/>
              <a:t>scanf</a:t>
            </a:r>
            <a:r>
              <a:rPr lang="en-US" dirty="0"/>
              <a:t> and </a:t>
            </a:r>
            <a:r>
              <a:rPr lang="en-US" dirty="0" err="1"/>
              <a:t>printf</a:t>
            </a:r>
            <a:r>
              <a:rPr lang="en-US" dirty="0"/>
              <a:t> in C++.</a:t>
            </a:r>
          </a:p>
          <a:p>
            <a:r>
              <a:rPr lang="en-US" dirty="0"/>
              <a:t>Another method for Pass-by-reference</a:t>
            </a:r>
          </a:p>
          <a:p>
            <a:r>
              <a:rPr lang="en-US" dirty="0"/>
              <a:t>A new data type bool for Boolean variables</a:t>
            </a:r>
          </a:p>
          <a:p>
            <a:r>
              <a:rPr lang="en-US" dirty="0"/>
              <a:t>C++ Strings (The string type)</a:t>
            </a:r>
          </a:p>
          <a:p>
            <a:r>
              <a:rPr lang="en-US" dirty="0"/>
              <a:t>Classes</a:t>
            </a:r>
          </a:p>
          <a:p>
            <a:pPr lvl="1"/>
            <a:r>
              <a:rPr lang="en-US" dirty="0"/>
              <a:t>Very much similar to Java classes</a:t>
            </a:r>
          </a:p>
        </p:txBody>
      </p:sp>
      <p:pic>
        <p:nvPicPr>
          <p:cNvPr id="4" name="Video 3">
            <a:hlinkClick r:id="" action="ppaction://media"/>
            <a:extLst>
              <a:ext uri="{FF2B5EF4-FFF2-40B4-BE49-F238E27FC236}">
                <a16:creationId xmlns:a16="http://schemas.microsoft.com/office/drawing/2014/main" id="{B42B0C8B-863D-4B69-807D-57655595E4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flipH="1">
            <a:off x="9143999" y="6631618"/>
            <a:ext cx="301841" cy="22638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20E9FA-CA1A-4D56-86FB-8409AB5A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0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5B59-2284-4313-A344-27B24BB5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C++ classes from Java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3747F-B75D-4C9A-BFB1-E66F5BEF0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51673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Classes in C++ are almost same as Java as far as object-based programming (i.e. OOP without inheritance and polymorphism) is concerned. For examples, the similarities include:</a:t>
            </a:r>
          </a:p>
          <a:p>
            <a:pPr lvl="1"/>
            <a:r>
              <a:rPr lang="en-US" dirty="0"/>
              <a:t>The class keyword</a:t>
            </a:r>
          </a:p>
          <a:p>
            <a:pPr lvl="1"/>
            <a:r>
              <a:rPr lang="en-US" dirty="0"/>
              <a:t>Fields and methods</a:t>
            </a:r>
          </a:p>
          <a:p>
            <a:pPr lvl="1"/>
            <a:r>
              <a:rPr lang="en-US" dirty="0"/>
              <a:t>Public, private and protected access of class members</a:t>
            </a:r>
          </a:p>
          <a:p>
            <a:pPr lvl="1"/>
            <a:r>
              <a:rPr lang="en-US" dirty="0"/>
              <a:t>Constructors</a:t>
            </a:r>
          </a:p>
          <a:p>
            <a:pPr lvl="1"/>
            <a:r>
              <a:rPr lang="en-US" dirty="0"/>
              <a:t>Creating objects and calling functions on objects</a:t>
            </a:r>
          </a:p>
          <a:p>
            <a:r>
              <a:rPr lang="en-US" dirty="0"/>
              <a:t>A few differences are:</a:t>
            </a:r>
          </a:p>
          <a:p>
            <a:pPr lvl="1"/>
            <a:r>
              <a:rPr lang="en-US" dirty="0"/>
              <a:t>The syntax of using access modifiers</a:t>
            </a:r>
          </a:p>
          <a:p>
            <a:pPr lvl="1"/>
            <a:r>
              <a:rPr lang="en-US" dirty="0"/>
              <a:t>Object creation syntax</a:t>
            </a:r>
          </a:p>
          <a:p>
            <a:pPr lvl="1"/>
            <a:r>
              <a:rPr lang="en-US" dirty="0"/>
              <a:t>Scope resolution operator </a:t>
            </a:r>
          </a:p>
          <a:p>
            <a:pPr lvl="1"/>
            <a:r>
              <a:rPr lang="en-US" dirty="0"/>
              <a:t>This operator</a:t>
            </a:r>
          </a:p>
          <a:p>
            <a:pPr lvl="1"/>
            <a:r>
              <a:rPr lang="en-US" dirty="0"/>
              <a:t>Destructors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85932-C0EF-4F3D-905F-39CA94DE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607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B10DA048-C28C-4937-A228-7E210AAC9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/>
              <a:t>Hello world</a:t>
            </a:r>
            <a:r>
              <a:rPr lang="en-US" altLang="en-US" dirty="0"/>
              <a:t> program in C++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F10683F3-1FB8-4520-927E-5CC443F15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600" dirty="0"/>
              <a:t>	When learning a new language, the first program people usually write is one that salutes the world :)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/>
              <a:t>	Here is the Hello world program in C++.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#include &lt;iostream&gt;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using namespace std;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int main() {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	</a:t>
            </a: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cout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 &lt;&lt; “Hello world!”;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000" dirty="0">
              <a:solidFill>
                <a:schemeClr val="accent2"/>
              </a:solidFill>
              <a:latin typeface="American Typewriter Condensed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return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EFCAC-37D2-4838-8A21-845B6EDE1452}"/>
              </a:ext>
            </a:extLst>
          </p:cNvPr>
          <p:cNvSpPr/>
          <p:nvPr/>
        </p:nvSpPr>
        <p:spPr>
          <a:xfrm>
            <a:off x="4114799" y="5227599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000" dirty="0"/>
              <a:t>BOTH </a:t>
            </a:r>
            <a:r>
              <a:rPr lang="en-US" altLang="en-US" sz="2000" dirty="0" err="1"/>
              <a:t>cin</a:t>
            </a:r>
            <a:r>
              <a:rPr lang="en-US" altLang="en-US" sz="2000" dirty="0"/>
              <a:t> and </a:t>
            </a:r>
            <a:r>
              <a:rPr lang="en-US" altLang="en-US" sz="2000" dirty="0" err="1"/>
              <a:t>cout</a:t>
            </a:r>
            <a:r>
              <a:rPr lang="en-US" altLang="en-US" sz="2000" dirty="0"/>
              <a:t> are defined in the iostream header file.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94C04-0066-41F8-B2A7-9AC6930C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988F-07D7-4573-9748-96B48F27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B6931-4049-4DC3-876D-EDBBD0E69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Both </a:t>
            </a:r>
            <a:r>
              <a:rPr lang="en-US" dirty="0" err="1"/>
              <a:t>cout</a:t>
            </a:r>
            <a:r>
              <a:rPr lang="en-US" dirty="0"/>
              <a:t> and </a:t>
            </a:r>
            <a:r>
              <a:rPr lang="en-US" dirty="0" err="1"/>
              <a:t>cin</a:t>
            </a:r>
            <a:r>
              <a:rPr lang="en-US" dirty="0"/>
              <a:t> (next slide) are defined in the namespace ‘std’, therefore, it is recommended to use ‘using namespace std;’ at the top of your code.</a:t>
            </a:r>
          </a:p>
          <a:p>
            <a:endParaRPr lang="en-US" dirty="0"/>
          </a:p>
          <a:p>
            <a:r>
              <a:rPr lang="en-US" dirty="0"/>
              <a:t>Without the  ‘using namespace std;’ line, you will have to use complete format of </a:t>
            </a:r>
            <a:r>
              <a:rPr lang="en-US" dirty="0" err="1"/>
              <a:t>cout</a:t>
            </a:r>
            <a:r>
              <a:rPr lang="en-US" dirty="0"/>
              <a:t>/</a:t>
            </a:r>
            <a:r>
              <a:rPr lang="en-US" dirty="0" err="1"/>
              <a:t>cin</a:t>
            </a:r>
            <a:r>
              <a:rPr lang="en-US" dirty="0"/>
              <a:t>, e.g.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&lt;&lt;“Hello World”;</a:t>
            </a:r>
          </a:p>
          <a:p>
            <a:endParaRPr lang="en-US" dirty="0"/>
          </a:p>
          <a:p>
            <a:r>
              <a:rPr lang="en-US" dirty="0"/>
              <a:t>For more details (optional): https://www.geeksforgeeks.org/namespace-in-c/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0376A-D164-472A-9F42-C8853F4D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5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CBF2F2F-416C-402A-A369-19C3B21DF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Input statements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05BD588-91D4-4E0B-A011-3BCC127C44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6482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400" b="1" dirty="0" err="1">
                <a:solidFill>
                  <a:srgbClr val="FF0000"/>
                </a:solidFill>
                <a:latin typeface="American Typewriter Condensed" charset="0"/>
              </a:rPr>
              <a:t>cin</a:t>
            </a:r>
            <a:r>
              <a:rPr lang="en-US" altLang="en-US" sz="2400" b="1" dirty="0">
                <a:solidFill>
                  <a:srgbClr val="FF0000"/>
                </a:solidFill>
                <a:latin typeface="American Typewriter Condensed" charset="0"/>
              </a:rPr>
              <a:t> &gt;&gt; variable-name;</a:t>
            </a:r>
          </a:p>
          <a:p>
            <a:pPr>
              <a:buFontTx/>
              <a:buNone/>
            </a:pPr>
            <a:r>
              <a:rPr lang="en-US" altLang="en-US" sz="2400" dirty="0"/>
              <a:t>Meaning: read the value of the variable called &lt;variable-name&gt; from the user</a:t>
            </a:r>
          </a:p>
          <a:p>
            <a:r>
              <a:rPr lang="en-US" altLang="en-US" sz="2400" b="1" dirty="0"/>
              <a:t>&gt;&gt;</a:t>
            </a:r>
            <a:r>
              <a:rPr lang="en-US" altLang="en-US" sz="2400" dirty="0"/>
              <a:t> : stream extraction operator</a:t>
            </a:r>
          </a:p>
          <a:p>
            <a:r>
              <a:rPr lang="en-US" altLang="en-US" sz="2400" dirty="0"/>
              <a:t>Can combine multiple operators in a single statement: </a:t>
            </a:r>
          </a:p>
          <a:p>
            <a:pPr marL="0" indent="0">
              <a:buNone/>
            </a:pP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/>
              <a:t>Examples:</a:t>
            </a:r>
          </a:p>
          <a:p>
            <a:pPr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cin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 &gt;&gt; </a:t>
            </a: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myInt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; // you cannot input a character in place of an integer</a:t>
            </a:r>
          </a:p>
          <a:p>
            <a:pPr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	</a:t>
            </a: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cin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 &gt;&gt; </a:t>
            </a: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myInt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 &gt;&gt; </a:t>
            </a: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myChar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; 	</a:t>
            </a:r>
          </a:p>
          <a:p>
            <a:pPr>
              <a:buFontTx/>
              <a:buNone/>
            </a:pP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cin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 &gt;&gt; x;</a:t>
            </a:r>
          </a:p>
          <a:p>
            <a:pPr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	</a:t>
            </a:r>
            <a:r>
              <a:rPr lang="en-US" altLang="en-US" sz="2400" dirty="0" err="1">
                <a:solidFill>
                  <a:schemeClr val="accent2"/>
                </a:solidFill>
                <a:latin typeface="American Typewriter Condensed" charset="0"/>
              </a:rPr>
              <a:t>cin</a:t>
            </a:r>
            <a:r>
              <a:rPr lang="en-US" altLang="en-US" sz="2400" dirty="0">
                <a:solidFill>
                  <a:schemeClr val="accent2"/>
                </a:solidFill>
                <a:latin typeface="American Typewriter Condensed" charset="0"/>
              </a:rPr>
              <a:t> &gt;&gt; my-character;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7D9CE-EFBE-4C00-962B-4971BA1D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6836590-CE70-4805-B029-FC4A785D7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Output statements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B610B04-FF22-45D7-9CB2-8B11AA8E8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93794"/>
            <a:ext cx="7772400" cy="5235606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000" b="1" dirty="0" err="1">
                <a:solidFill>
                  <a:srgbClr val="FF0000"/>
                </a:solidFill>
                <a:latin typeface="American Typewriter Condensed" charset="0"/>
              </a:rPr>
              <a:t>cout</a:t>
            </a:r>
            <a:r>
              <a:rPr lang="en-US" altLang="en-US" sz="2000" b="1" dirty="0">
                <a:solidFill>
                  <a:srgbClr val="FF0000"/>
                </a:solidFill>
                <a:latin typeface="American Typewriter Condensed" charset="0"/>
              </a:rPr>
              <a:t> &lt;&lt; variable-name;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	</a:t>
            </a:r>
            <a:r>
              <a:rPr lang="en-US" altLang="en-US" sz="2000" dirty="0"/>
              <a:t>Meaning: print the value of variable &lt;variable-name&gt; to the user </a:t>
            </a:r>
          </a:p>
          <a:p>
            <a:pPr>
              <a:buFontTx/>
              <a:buNone/>
            </a:pPr>
            <a:r>
              <a:rPr lang="en-US" altLang="en-US" sz="2000" b="1" dirty="0" err="1">
                <a:solidFill>
                  <a:srgbClr val="FF0000"/>
                </a:solidFill>
                <a:latin typeface="American Typewriter Condensed" charset="0"/>
              </a:rPr>
              <a:t>cout</a:t>
            </a:r>
            <a:r>
              <a:rPr lang="en-US" altLang="en-US" sz="2000" b="1" dirty="0">
                <a:solidFill>
                  <a:srgbClr val="FF0000"/>
                </a:solidFill>
                <a:latin typeface="American Typewriter Condensed" charset="0"/>
              </a:rPr>
              <a:t> &lt;&lt; “any message “;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	</a:t>
            </a:r>
            <a:r>
              <a:rPr lang="en-US" altLang="en-US" sz="2000" dirty="0"/>
              <a:t>Meaning: print the message within quotes to the user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en-US" sz="2000" b="1" dirty="0" err="1">
                <a:solidFill>
                  <a:srgbClr val="FF0000"/>
                </a:solidFill>
                <a:latin typeface="American Typewriter Condensed" charset="0"/>
              </a:rPr>
              <a:t>cout</a:t>
            </a:r>
            <a:r>
              <a:rPr lang="en-US" altLang="en-US" sz="2000" b="1" dirty="0">
                <a:solidFill>
                  <a:srgbClr val="FF0000"/>
                </a:solidFill>
                <a:latin typeface="American Typewriter Condensed" charset="0"/>
              </a:rPr>
              <a:t> &lt;&lt; </a:t>
            </a:r>
            <a:r>
              <a:rPr lang="en-US" altLang="en-US" sz="2000" b="1" dirty="0" err="1">
                <a:solidFill>
                  <a:srgbClr val="FF0000"/>
                </a:solidFill>
                <a:latin typeface="American Typewriter Condensed" charset="0"/>
              </a:rPr>
              <a:t>endl</a:t>
            </a:r>
            <a:r>
              <a:rPr lang="en-US" altLang="en-US" sz="2000" b="1" dirty="0">
                <a:solidFill>
                  <a:srgbClr val="FF0000"/>
                </a:solidFill>
                <a:latin typeface="American Typewriter Condensed" charset="0"/>
              </a:rPr>
              <a:t>;</a:t>
            </a:r>
          </a:p>
          <a:p>
            <a:pPr>
              <a:buFontTx/>
              <a:buNone/>
            </a:pPr>
            <a:r>
              <a:rPr lang="en-US" altLang="en-US" sz="2000" dirty="0"/>
              <a:t>	Meaning: print a new line</a:t>
            </a:r>
          </a:p>
          <a:p>
            <a:r>
              <a:rPr lang="en-US" altLang="en-US" sz="2000" b="1" dirty="0"/>
              <a:t>&lt;&lt;</a:t>
            </a:r>
            <a:r>
              <a:rPr lang="en-US" altLang="en-US" sz="2000" dirty="0"/>
              <a:t> : stream insertion operator</a:t>
            </a:r>
          </a:p>
          <a:p>
            <a:r>
              <a:rPr lang="en-US" altLang="en-US" sz="2000" dirty="0"/>
              <a:t>Can combine multiple operators in a single statement: </a:t>
            </a:r>
          </a:p>
          <a:p>
            <a:pPr>
              <a:buFontTx/>
              <a:buNone/>
            </a:pPr>
            <a:r>
              <a:rPr lang="en-US" altLang="en-US" sz="2000" dirty="0"/>
              <a:t>Examples:</a:t>
            </a:r>
          </a:p>
          <a:p>
            <a:pPr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>
                <a:solidFill>
                  <a:schemeClr val="accent2"/>
                </a:solidFill>
                <a:latin typeface="American Typewriter Condensed" charset="0"/>
              </a:rPr>
              <a:t>cout</a:t>
            </a: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 &lt;&lt; a; 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	</a:t>
            </a:r>
            <a:r>
              <a:rPr lang="en-US" altLang="en-US" sz="2000" dirty="0" err="1">
                <a:solidFill>
                  <a:schemeClr val="accent2"/>
                </a:solidFill>
                <a:latin typeface="American Typewriter Condensed" charset="0"/>
              </a:rPr>
              <a:t>cout</a:t>
            </a: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 &lt;&lt; b &lt;&lt; c;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	</a:t>
            </a:r>
            <a:r>
              <a:rPr lang="en-US" altLang="en-US" sz="2000" dirty="0" err="1">
                <a:solidFill>
                  <a:schemeClr val="accent2"/>
                </a:solidFill>
                <a:latin typeface="American Typewriter Condensed" charset="0"/>
              </a:rPr>
              <a:t>cout</a:t>
            </a: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 &lt;&lt; “This is my character: “ &lt;&lt; my-character &lt;&lt; “ he </a:t>
            </a:r>
            <a:r>
              <a:rPr lang="en-US" altLang="en-US" sz="2000" dirty="0" err="1">
                <a:solidFill>
                  <a:schemeClr val="accent2"/>
                </a:solidFill>
                <a:latin typeface="American Typewriter Condensed" charset="0"/>
              </a:rPr>
              <a:t>he</a:t>
            </a: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 </a:t>
            </a:r>
            <a:r>
              <a:rPr lang="en-US" altLang="en-US" sz="2000" dirty="0" err="1">
                <a:solidFill>
                  <a:schemeClr val="accent2"/>
                </a:solidFill>
                <a:latin typeface="American Typewriter Condensed" charset="0"/>
              </a:rPr>
              <a:t>he</a:t>
            </a: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” 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		&lt;&lt; </a:t>
            </a:r>
            <a:r>
              <a:rPr lang="en-US" altLang="en-US" sz="2000" dirty="0" err="1">
                <a:solidFill>
                  <a:schemeClr val="accent2"/>
                </a:solidFill>
                <a:latin typeface="American Typewriter Condensed" charset="0"/>
              </a:rPr>
              <a:t>endl</a:t>
            </a:r>
            <a:r>
              <a:rPr lang="en-US" altLang="en-US" sz="2000" dirty="0">
                <a:solidFill>
                  <a:schemeClr val="accent2"/>
                </a:solidFill>
                <a:latin typeface="American Typewriter Condensed" charset="0"/>
              </a:rPr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D17CB-5A02-428A-B4CF-E88CC294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050A-F608-40BE-B954-9314EF00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71185"/>
          </a:xfrm>
        </p:spPr>
        <p:txBody>
          <a:bodyPr/>
          <a:lstStyle/>
          <a:p>
            <a:pPr algn="ctr"/>
            <a:r>
              <a:rPr lang="en-US" b="1" dirty="0"/>
              <a:t>Quadratic Equation C++ Program</a:t>
            </a:r>
            <a:br>
              <a:rPr lang="en-US" dirty="0"/>
            </a:br>
            <a:r>
              <a:rPr lang="en-US" dirty="0"/>
              <a:t>(Example in Word file)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7687F-5324-4C86-BC5E-947425CA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55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4C62-C848-4C95-B9D9-EBD3D2C0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bool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35244-0DBE-484B-8B36-C5B5E7104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bool type can be used for variables, which hold binary (true/false) values.</a:t>
            </a:r>
          </a:p>
          <a:p>
            <a:pPr lvl="1"/>
            <a:r>
              <a:rPr lang="en-US" dirty="0"/>
              <a:t>bool gender = true; // true means male, false: female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ECC64-0AEC-4700-923A-3EE54DEA483A}"/>
              </a:ext>
            </a:extLst>
          </p:cNvPr>
          <p:cNvSpPr/>
          <p:nvPr/>
        </p:nvSpPr>
        <p:spPr>
          <a:xfrm>
            <a:off x="628650" y="4237971"/>
            <a:ext cx="7886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    bool x = true; // bool and true (lower-case) are C++ reserved keywords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cout</a:t>
            </a:r>
            <a:r>
              <a:rPr lang="en-US" sz="2000" dirty="0"/>
              <a:t>&lt;&lt;x; // will output 1 </a:t>
            </a:r>
          </a:p>
          <a:p>
            <a:r>
              <a:rPr lang="en-US" sz="2000" dirty="0"/>
              <a:t>    if(x==true) // can test if x is ‘true’ or ‘false’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&lt;&lt;"Correct";</a:t>
            </a:r>
          </a:p>
          <a:p>
            <a:r>
              <a:rPr lang="en-US" sz="2000" dirty="0"/>
              <a:t>    else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&lt;&lt;"Incorrect";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FCF39-3735-45A4-834C-E9B053CD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7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B929409-A665-4E98-93B0-7EFFFA954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Parameter Passing (same as C)</a:t>
            </a:r>
          </a:p>
        </p:txBody>
      </p:sp>
      <p:sp>
        <p:nvSpPr>
          <p:cNvPr id="33795" name="Line 3">
            <a:extLst>
              <a:ext uri="{FF2B5EF4-FFF2-40B4-BE49-F238E27FC236}">
                <a16:creationId xmlns:a16="http://schemas.microsoft.com/office/drawing/2014/main" id="{3706CAC5-73D1-4776-AC7E-86E6B3E96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90600"/>
            <a:ext cx="8305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F731FEED-1175-495F-84C9-3D754569E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41148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dirty="0">
                <a:latin typeface="Courier New" panose="02070309020205020404" pitchFamily="49" charset="0"/>
              </a:rPr>
              <a:t>int add(int a, int b) {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 return </a:t>
            </a:r>
            <a:r>
              <a:rPr lang="en-US" altLang="en-US" sz="2000" dirty="0" err="1">
                <a:latin typeface="Courier New" panose="02070309020205020404" pitchFamily="49" charset="0"/>
              </a:rPr>
              <a:t>a+b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int a, b, sum;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sum = add(a, b);</a:t>
            </a:r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380F4F10-408F-4E3D-90B3-25AB2B8FD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657600"/>
            <a:ext cx="8305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Text Box 9">
            <a:extLst>
              <a:ext uri="{FF2B5EF4-FFF2-40B4-BE49-F238E27FC236}">
                <a16:creationId xmlns:a16="http://schemas.microsoft.com/office/drawing/2014/main" id="{31C306C3-20E3-406A-8DF8-5CB8DA7E4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0668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pass by value</a:t>
            </a:r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40516CE9-5D99-4457-820C-096BCE4B5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42672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dirty="0">
                <a:latin typeface="Courier New" panose="02070309020205020404" pitchFamily="49" charset="0"/>
              </a:rPr>
              <a:t>int add(int *a, int *b) {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 return *a + *b;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int a, b, sum;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sum = add(&amp;a, &amp;b);</a:t>
            </a:r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6988C8A4-D3C0-460A-B660-4598B65DE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33800"/>
            <a:ext cx="4329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pass by reference</a:t>
            </a:r>
          </a:p>
        </p:txBody>
      </p:sp>
      <p:sp>
        <p:nvSpPr>
          <p:cNvPr id="33805" name="Text Box 13">
            <a:extLst>
              <a:ext uri="{FF2B5EF4-FFF2-40B4-BE49-F238E27FC236}">
                <a16:creationId xmlns:a16="http://schemas.microsoft.com/office/drawing/2014/main" id="{3EBA4667-0337-4E57-822D-3EBEEAA68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447800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Make a local copy of </a:t>
            </a:r>
            <a:r>
              <a:rPr lang="en-US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>
                <a:solidFill>
                  <a:schemeClr val="accent2"/>
                </a:solidFill>
              </a:rPr>
              <a:t> &amp; </a:t>
            </a:r>
            <a:r>
              <a:rPr lang="en-US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3806" name="Text Box 14">
            <a:extLst>
              <a:ext uri="{FF2B5EF4-FFF2-40B4-BE49-F238E27FC236}">
                <a16:creationId xmlns:a16="http://schemas.microsoft.com/office/drawing/2014/main" id="{A3C428BA-6284-404B-9CF2-9BC48930B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191000"/>
            <a:ext cx="3581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Pass pointers that reference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dirty="0">
                <a:solidFill>
                  <a:schemeClr val="accent2"/>
                </a:solidFill>
              </a:rPr>
              <a:t> &amp;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dirty="0">
                <a:solidFill>
                  <a:schemeClr val="accent2"/>
                </a:solidFill>
              </a:rPr>
              <a:t>.  Changes made to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dirty="0">
                <a:solidFill>
                  <a:schemeClr val="accent2"/>
                </a:solidFill>
              </a:rPr>
              <a:t> or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dirty="0">
                <a:solidFill>
                  <a:schemeClr val="accent2"/>
                </a:solidFill>
              </a:rPr>
              <a:t> will be reflected outside the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add</a:t>
            </a:r>
            <a:r>
              <a:rPr lang="en-US" altLang="en-US" dirty="0">
                <a:solidFill>
                  <a:schemeClr val="accent2"/>
                </a:solidFill>
              </a:rPr>
              <a:t> routine.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86C04-4350-425B-A0A6-C08A23E2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A2D3525-7B94-4591-A084-233724B68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Parameter Passing (Another method of pass-by-reference)</a:t>
            </a:r>
          </a:p>
        </p:txBody>
      </p:sp>
      <p:sp>
        <p:nvSpPr>
          <p:cNvPr id="35843" name="Line 3">
            <a:extLst>
              <a:ext uri="{FF2B5EF4-FFF2-40B4-BE49-F238E27FC236}">
                <a16:creationId xmlns:a16="http://schemas.microsoft.com/office/drawing/2014/main" id="{510DA386-C2A7-49B4-8941-ACD93188A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90600"/>
            <a:ext cx="8305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9ED0E8A2-17D4-473B-91D0-7187F5B2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1905000"/>
            <a:ext cx="612855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Courier New" panose="02070309020205020404" pitchFamily="49" charset="0"/>
              </a:rPr>
              <a:t>int add(int &amp;a, int &amp;b1) {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	a=20;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	b1=30;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 	return a+b1;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int a=100, b=10, sum;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sum = add(a, b); // changes a and b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C72F4C6D-D103-485D-9A52-4A9CD966A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920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pass by reference – alternate notation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700ED-4BD4-4163-B473-2BC78825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C3F614E-48A1-4F57-BA44-7E06A97A6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Class Basics</a:t>
            </a:r>
          </a:p>
        </p:txBody>
      </p:sp>
      <p:sp>
        <p:nvSpPr>
          <p:cNvPr id="3075" name="Line 3">
            <a:extLst>
              <a:ext uri="{FF2B5EF4-FFF2-40B4-BE49-F238E27FC236}">
                <a16:creationId xmlns:a16="http://schemas.microsoft.com/office/drawing/2014/main" id="{D255C6EC-A110-4353-885C-29EF045B6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990600"/>
            <a:ext cx="8305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C8CB5A61-DE5E-46D0-8A05-5E01FB892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07356"/>
            <a:ext cx="496557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altLang="en-US" sz="2000" dirty="0">
              <a:latin typeface="Courier New" panose="02070309020205020404" pitchFamily="49" charset="0"/>
            </a:endParaRPr>
          </a:p>
          <a:p>
            <a:endParaRPr lang="en-US" altLang="en-US" sz="2000" dirty="0">
              <a:latin typeface="Courier New" panose="02070309020205020404" pitchFamily="49" charset="0"/>
            </a:endParaRPr>
          </a:p>
          <a:p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#include &lt;iostream&gt; </a:t>
            </a:r>
          </a:p>
          <a:p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class Image {</a:t>
            </a:r>
          </a:p>
          <a:p>
            <a:r>
              <a:rPr lang="en-US" altLang="en-US" sz="2000" i="1" dirty="0">
                <a:latin typeface="Courier New" panose="02070309020205020404" pitchFamily="49" charset="0"/>
              </a:rPr>
              <a:t>Image(int x) { this-&gt;x = x; }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Image() { Image(</a:t>
            </a:r>
            <a:r>
              <a:rPr lang="en-US" altLang="en-US" sz="2000" b="1">
                <a:latin typeface="Courier New" panose="02070309020205020404" pitchFamily="49" charset="0"/>
              </a:rPr>
              <a:t>45);}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public: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void </a:t>
            </a:r>
            <a:r>
              <a:rPr lang="en-US" altLang="en-US" sz="2000" dirty="0" err="1">
                <a:latin typeface="Courier New" panose="02070309020205020404" pitchFamily="49" charset="0"/>
              </a:rPr>
              <a:t>SetAllPixels</a:t>
            </a:r>
            <a:r>
              <a:rPr lang="en-US" altLang="en-US" sz="2000" dirty="0">
                <a:latin typeface="Courier New" panose="02070309020205020404" pitchFamily="49" charset="0"/>
              </a:rPr>
              <a:t>(int x)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{</a:t>
            </a:r>
          </a:p>
          <a:p>
            <a:pPr lvl="1"/>
            <a:r>
              <a:rPr lang="en-US" altLang="en-US" sz="2000" dirty="0" err="1">
                <a:latin typeface="Courier New" panose="02070309020205020404" pitchFamily="49" charset="0"/>
              </a:rPr>
              <a:t>cout</a:t>
            </a:r>
            <a:r>
              <a:rPr lang="en-US" altLang="en-US" sz="2000" dirty="0">
                <a:latin typeface="Courier New" panose="02070309020205020404" pitchFamily="49" charset="0"/>
              </a:rPr>
              <a:t>&lt;&lt;“</a:t>
            </a:r>
            <a:r>
              <a:rPr lang="en-US" altLang="en-US" sz="2000" dirty="0" err="1">
                <a:latin typeface="Courier New" panose="02070309020205020404" pitchFamily="49" charset="0"/>
              </a:rPr>
              <a:t>aur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</a:rPr>
              <a:t>sunao</a:t>
            </a:r>
            <a:r>
              <a:rPr lang="en-US" altLang="en-US" sz="2000" dirty="0">
                <a:latin typeface="Courier New" panose="02070309020205020404" pitchFamily="49" charset="0"/>
              </a:rPr>
              <a:t>”&lt;&lt;</a:t>
            </a:r>
            <a:r>
              <a:rPr lang="en-US" altLang="en-US" sz="2000" dirty="0" err="1">
                <a:latin typeface="Courier New" panose="02070309020205020404" pitchFamily="49" charset="0"/>
              </a:rPr>
              <a:t>endl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}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...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private: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 int x;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  ...</a:t>
            </a:r>
          </a:p>
          <a:p>
            <a:r>
              <a:rPr lang="en-US" altLang="en-US" sz="2000" dirty="0"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BAB2AAE1-8078-4CCE-B3F6-47027E80F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462595"/>
            <a:ext cx="2676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Include a library file</a:t>
            </a:r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id="{F7639F05-2D9F-4038-AD0C-69E8CB9F1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435658"/>
            <a:ext cx="3581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Variables and functions</a:t>
            </a:r>
          </a:p>
          <a:p>
            <a:r>
              <a:rPr lang="en-US" altLang="en-US" dirty="0">
                <a:solidFill>
                  <a:schemeClr val="accent2"/>
                </a:solidFill>
              </a:rPr>
              <a:t>accessible from anywhere</a:t>
            </a:r>
          </a:p>
        </p:txBody>
      </p:sp>
      <p:sp>
        <p:nvSpPr>
          <p:cNvPr id="3081" name="Text Box 9">
            <a:extLst>
              <a:ext uri="{FF2B5EF4-FFF2-40B4-BE49-F238E27FC236}">
                <a16:creationId xmlns:a16="http://schemas.microsoft.com/office/drawing/2014/main" id="{C6287986-6940-40B3-8560-7AA521B70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5072239"/>
            <a:ext cx="3581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Variables and functions accessible</a:t>
            </a:r>
          </a:p>
          <a:p>
            <a:r>
              <a:rPr lang="en-US" altLang="en-US" dirty="0">
                <a:solidFill>
                  <a:schemeClr val="accent2"/>
                </a:solidFill>
              </a:rPr>
              <a:t>only from within this class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C6291B08-4DAE-4AF3-B422-0E6CD0219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846" y="2416464"/>
            <a:ext cx="26011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Constructors 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E8B6ADD-2613-4785-ACCA-A5A79B53D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846" y="2675671"/>
            <a:ext cx="26011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this is a pointer in C++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5CD5-7A47-4133-A78E-4728E6D1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F6D8-EB5D-4ED5-8582-430B7832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access modifiers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7DA6E-6EAA-4F2D-8908-C3A62DA49E16}"/>
              </a:ext>
            </a:extLst>
          </p:cNvPr>
          <p:cNvSpPr/>
          <p:nvPr/>
        </p:nvSpPr>
        <p:spPr>
          <a:xfrm>
            <a:off x="628650" y="1599227"/>
            <a:ext cx="726415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400" b="1" dirty="0">
                <a:solidFill>
                  <a:srgbClr val="0000CD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Public access specifier</a:t>
            </a:r>
            <a:b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x;  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Public attribute</a:t>
            </a:r>
            <a:b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2400" b="1" dirty="0">
                <a:solidFill>
                  <a:srgbClr val="0000CD"/>
                </a:solidFill>
                <a:latin typeface="Consolas" panose="020B0609020204030204" pitchFamily="49" charset="0"/>
              </a:rPr>
              <a:t>private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Private access specifier</a:t>
            </a:r>
            <a:b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y;  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Private attribute</a:t>
            </a:r>
            <a:b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main() {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myObj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myObj.x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Allowed (public)</a:t>
            </a:r>
            <a:b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myObj.y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 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Not allowed (private)</a:t>
            </a:r>
            <a:b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92A1-192B-4956-BBC9-4BE78FF8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66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7D67-B196-459A-A674-7940E5F5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13522"/>
            <a:ext cx="7886700" cy="1325563"/>
          </a:xfrm>
        </p:spPr>
        <p:txBody>
          <a:bodyPr/>
          <a:lstStyle/>
          <a:p>
            <a:pPr algn="ctr"/>
            <a:r>
              <a:rPr lang="en-US" b="1" dirty="0"/>
              <a:t>Creating multiple objects</a:t>
            </a:r>
            <a:br>
              <a:rPr lang="en-US" b="1" dirty="0"/>
            </a:br>
            <a:r>
              <a:rPr lang="en-US" b="1" dirty="0"/>
              <a:t>(Example In word file)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E4E9B-BD1D-4FBF-B8D5-FBD4A99B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8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7EE1-4437-4295-875C-30BA9DB1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33623"/>
            <a:ext cx="7886700" cy="1325563"/>
          </a:xfrm>
        </p:spPr>
        <p:txBody>
          <a:bodyPr/>
          <a:lstStyle/>
          <a:p>
            <a:pPr algn="ctr"/>
            <a:r>
              <a:rPr lang="en-US" b="1" dirty="0"/>
              <a:t>Encapsulation</a:t>
            </a:r>
            <a:br>
              <a:rPr lang="en-US" b="1" dirty="0"/>
            </a:br>
            <a:r>
              <a:rPr lang="en-US" b="1" dirty="0"/>
              <a:t>(Example In word file)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4ADA-9FC6-4CD1-B96F-C9BE8F59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74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8F6F-5088-488B-B6B5-129FD7EA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06449"/>
          </a:xfrm>
        </p:spPr>
        <p:txBody>
          <a:bodyPr/>
          <a:lstStyle/>
          <a:p>
            <a:r>
              <a:rPr lang="en-US" dirty="0"/>
              <a:t>Scope resolution operator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8C5AEFA-F374-4147-953E-354864658723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1399497"/>
            <a:ext cx="7886700" cy="45219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 dirty="0"/>
              <a:t>	In Java, all methods/constructors of a class are defined inside the class body. </a:t>
            </a:r>
          </a:p>
          <a:p>
            <a:pPr>
              <a:buFontTx/>
              <a:buNone/>
            </a:pPr>
            <a:r>
              <a:rPr lang="en-US" altLang="en-US" sz="2400" dirty="0"/>
              <a:t>	Contrary to Java, you can implement a method/constructor in C++ outside the class body. 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/>
              <a:t>	HOW?</a:t>
            </a:r>
          </a:p>
          <a:p>
            <a:pPr>
              <a:buFontTx/>
              <a:buNone/>
            </a:pPr>
            <a:r>
              <a:rPr lang="en-US" altLang="en-US" sz="2400" dirty="0"/>
              <a:t>		</a:t>
            </a:r>
            <a:r>
              <a:rPr lang="en-US" altLang="en-US" sz="2400" i="1" dirty="0"/>
              <a:t>Inside class: </a:t>
            </a:r>
            <a:r>
              <a:rPr lang="en-US" altLang="en-US" sz="2400" dirty="0"/>
              <a:t>only method/constructor prototype</a:t>
            </a:r>
          </a:p>
          <a:p>
            <a:pPr>
              <a:buFontTx/>
              <a:buNone/>
            </a:pPr>
            <a:r>
              <a:rPr lang="en-US" altLang="en-US" sz="2400" i="1" dirty="0"/>
              <a:t>		Outside class: </a:t>
            </a:r>
            <a:r>
              <a:rPr lang="en-US" altLang="en-US" sz="2400" dirty="0"/>
              <a:t>define the method by using the class 	name and scope resolution operator (::) before the 	method name.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3817F-7E38-4FB9-8C8B-D5C33368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9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8F6F-5088-488B-B6B5-129FD7EA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r>
              <a:rPr lang="en-US" dirty="0"/>
              <a:t>: </a:t>
            </a:r>
            <a:r>
              <a:rPr lang="en-US" sz="4000" dirty="0"/>
              <a:t>Scope resolution operator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48DCC2-0559-448D-8BFA-6A094BA4F584}"/>
              </a:ext>
            </a:extLst>
          </p:cNvPr>
          <p:cNvSpPr/>
          <p:nvPr/>
        </p:nvSpPr>
        <p:spPr>
          <a:xfrm>
            <a:off x="628650" y="1484788"/>
            <a:ext cx="819575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Car {       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// The class</a:t>
            </a:r>
            <a:b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/>
              <a:t> 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         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// Access specifier</a:t>
            </a:r>
            <a:b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/>
              <a:t>    string brand; 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// Attribute</a:t>
            </a:r>
            <a:b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/>
              <a:t>    string model; 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// Attribute</a:t>
            </a:r>
            <a:b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/>
              <a:t>   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year;      </a:t>
            </a:r>
            <a:r>
              <a:rPr lang="en-US" sz="2000" dirty="0"/>
              <a:t>// Attribute</a:t>
            </a:r>
            <a:b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void</a:t>
            </a:r>
            <a:r>
              <a:rPr lang="en-US" sz="2000" dirty="0"/>
              <a:t>  </a:t>
            </a:r>
            <a:r>
              <a:rPr lang="en-US" sz="2000" dirty="0" err="1"/>
              <a:t>copyCar</a:t>
            </a:r>
            <a:r>
              <a:rPr lang="en-US" sz="2000" dirty="0"/>
              <a:t>(string x, string y,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z);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// Constructor declaration</a:t>
            </a:r>
            <a:b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/>
              <a:t>};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// Constructor definition outside the class</a:t>
            </a:r>
            <a:b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void car::</a:t>
            </a:r>
            <a:r>
              <a:rPr lang="en-US" sz="2000" dirty="0" err="1"/>
              <a:t>copyCar</a:t>
            </a:r>
            <a:r>
              <a:rPr lang="en-US" sz="2000" dirty="0"/>
              <a:t>(string x, string y,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z) {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 brand = x;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 model = y;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 year = z;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17FE-A575-4B54-82E3-F25A13C3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13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5CF7-27F4-4CFD-9B0E-8D6099321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5761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Creating objects with parameterized constructors</a:t>
            </a:r>
            <a:br>
              <a:rPr lang="en-US" b="1" dirty="0"/>
            </a:br>
            <a:r>
              <a:rPr lang="en-US" b="1" dirty="0"/>
              <a:t>(Example in Word file)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A4D00-471D-4A8A-A12C-7C1415E2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55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239E-C40F-4EA8-B79F-308C8DF2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1322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C++ Primer (Part I) </a:t>
            </a:r>
            <a:br>
              <a:rPr lang="en-US" sz="5400" b="1" dirty="0"/>
            </a:br>
            <a:r>
              <a:rPr lang="en-US" sz="5400" b="1" dirty="0"/>
              <a:t>Lecture ENDED!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C6118D-5D79-4947-8314-0C91BC12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6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6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5.9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883</TotalTime>
  <Words>1283</Words>
  <Application>Microsoft Office PowerPoint</Application>
  <PresentationFormat>On-screen Show (4:3)</PresentationFormat>
  <Paragraphs>181</Paragraphs>
  <Slides>21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American Typewriter Condensed</vt:lpstr>
      <vt:lpstr>Arial</vt:lpstr>
      <vt:lpstr>Calibri</vt:lpstr>
      <vt:lpstr>Calibri Light</vt:lpstr>
      <vt:lpstr>Consolas</vt:lpstr>
      <vt:lpstr>Courier New</vt:lpstr>
      <vt:lpstr>Office Theme</vt:lpstr>
      <vt:lpstr>C++ Primer (Part I)</vt:lpstr>
      <vt:lpstr>PowerPoint Presentation</vt:lpstr>
      <vt:lpstr>Similarities with C</vt:lpstr>
      <vt:lpstr>What’s new in C++</vt:lpstr>
      <vt:lpstr>Comparing C++ classes from Java classes</vt:lpstr>
      <vt:lpstr>The Hello world program in C++</vt:lpstr>
      <vt:lpstr>Namespace </vt:lpstr>
      <vt:lpstr>Input statements</vt:lpstr>
      <vt:lpstr>Output statements</vt:lpstr>
      <vt:lpstr>Quadratic Equation C++ Program (Example in Word file)</vt:lpstr>
      <vt:lpstr>The bool data type</vt:lpstr>
      <vt:lpstr>Parameter Passing (same as C)</vt:lpstr>
      <vt:lpstr>Parameter Passing (Another method of pass-by-reference)</vt:lpstr>
      <vt:lpstr>Class Basics</vt:lpstr>
      <vt:lpstr>Class access modifiers example</vt:lpstr>
      <vt:lpstr>Creating multiple objects (Example In word file)</vt:lpstr>
      <vt:lpstr>Encapsulation (Example In word file)</vt:lpstr>
      <vt:lpstr>Scope resolution operator</vt:lpstr>
      <vt:lpstr>Example: Scope resolution operator</vt:lpstr>
      <vt:lpstr>Creating objects with parameterized constructors (Example in Word file)</vt:lpstr>
      <vt:lpstr>C++ Primer (Part I)  Lecture ENDED!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Aksam</dc:creator>
  <cp:lastModifiedBy>Aksam</cp:lastModifiedBy>
  <cp:revision>81</cp:revision>
  <dcterms:created xsi:type="dcterms:W3CDTF">2020-10-03T15:27:47Z</dcterms:created>
  <dcterms:modified xsi:type="dcterms:W3CDTF">2020-10-07T16:42:35Z</dcterms:modified>
</cp:coreProperties>
</file>