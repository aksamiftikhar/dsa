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7"/>
  </p:notesMasterIdLst>
  <p:handoutMasterIdLst>
    <p:handoutMasterId r:id="rId28"/>
  </p:handoutMasterIdLst>
  <p:sldIdLst>
    <p:sldId id="256" r:id="rId2"/>
    <p:sldId id="297" r:id="rId3"/>
    <p:sldId id="298" r:id="rId4"/>
    <p:sldId id="292" r:id="rId5"/>
    <p:sldId id="293" r:id="rId6"/>
    <p:sldId id="287" r:id="rId7"/>
    <p:sldId id="284" r:id="rId8"/>
    <p:sldId id="277" r:id="rId9"/>
    <p:sldId id="269" r:id="rId10"/>
    <p:sldId id="282" r:id="rId11"/>
    <p:sldId id="281" r:id="rId12"/>
    <p:sldId id="280" r:id="rId13"/>
    <p:sldId id="270" r:id="rId14"/>
    <p:sldId id="288" r:id="rId15"/>
    <p:sldId id="283" r:id="rId16"/>
    <p:sldId id="286" r:id="rId17"/>
    <p:sldId id="289" r:id="rId18"/>
    <p:sldId id="294" r:id="rId19"/>
    <p:sldId id="290" r:id="rId20"/>
    <p:sldId id="295" r:id="rId21"/>
    <p:sldId id="291" r:id="rId22"/>
    <p:sldId id="296" r:id="rId23"/>
    <p:sldId id="302" r:id="rId24"/>
    <p:sldId id="304" r:id="rId25"/>
    <p:sldId id="307" r:id="rId2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04" autoAdjust="0"/>
    <p:restoredTop sz="74745" autoAdjust="0"/>
  </p:normalViewPr>
  <p:slideViewPr>
    <p:cSldViewPr>
      <p:cViewPr varScale="1">
        <p:scale>
          <a:sx n="64" d="100"/>
          <a:sy n="64" d="100"/>
        </p:scale>
        <p:origin x="220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4" rIns="96647" bIns="48324" numCol="1" anchor="t" anchorCtr="0" compatLnSpc="1">
            <a:prstTxWarp prst="textNoShape">
              <a:avLst/>
            </a:prstTxWarp>
          </a:bodyPr>
          <a:lstStyle>
            <a:lvl1pPr defTabSz="968375">
              <a:defRPr sz="1300">
                <a:latin typeface="Arial Narrow" pitchFamily="34" charset="0"/>
              </a:defRPr>
            </a:lvl1pPr>
          </a:lstStyle>
          <a:p>
            <a:endParaRPr 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4" rIns="96647" bIns="48324" numCol="1" anchor="t" anchorCtr="0" compatLnSpc="1">
            <a:prstTxWarp prst="textNoShape">
              <a:avLst/>
            </a:prstTxWarp>
          </a:bodyPr>
          <a:lstStyle>
            <a:lvl1pPr algn="r" defTabSz="968375">
              <a:defRPr sz="1300">
                <a:latin typeface="Arial Narrow" pitchFamily="34" charset="0"/>
              </a:defRPr>
            </a:lvl1pPr>
          </a:lstStyle>
          <a:p>
            <a:endParaRPr lang="en-US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18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4" rIns="96647" bIns="48324" numCol="1" anchor="b" anchorCtr="0" compatLnSpc="1">
            <a:prstTxWarp prst="textNoShape">
              <a:avLst/>
            </a:prstTxWarp>
          </a:bodyPr>
          <a:lstStyle>
            <a:lvl1pPr defTabSz="968375">
              <a:defRPr sz="1300">
                <a:latin typeface="Arial Narrow" pitchFamily="34" charset="0"/>
              </a:defRPr>
            </a:lvl1pPr>
          </a:lstStyle>
          <a:p>
            <a:endParaRPr lang="en-US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3363"/>
            <a:ext cx="31718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4" rIns="96647" bIns="48324" numCol="1" anchor="b" anchorCtr="0" compatLnSpc="1">
            <a:prstTxWarp prst="textNoShape">
              <a:avLst/>
            </a:prstTxWarp>
          </a:bodyPr>
          <a:lstStyle>
            <a:lvl1pPr algn="r" defTabSz="968375">
              <a:defRPr sz="1300">
                <a:latin typeface="Arial Narrow" pitchFamily="34" charset="0"/>
              </a:defRPr>
            </a:lvl1pPr>
          </a:lstStyle>
          <a:p>
            <a:fld id="{6C28A702-E637-4C14-94E5-E4CFDEDFD62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118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4" rIns="96647" bIns="48324" numCol="1" anchor="t" anchorCtr="0" compatLnSpc="1">
            <a:prstTxWarp prst="textNoShape">
              <a:avLst/>
            </a:prstTxWarp>
          </a:bodyPr>
          <a:lstStyle>
            <a:lvl1pPr defTabSz="968375">
              <a:defRPr sz="1300">
                <a:latin typeface="Arial Narrow" pitchFamily="34" charset="0"/>
              </a:defRPr>
            </a:lvl1pPr>
          </a:lstStyle>
          <a:p>
            <a:endParaRPr 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4" rIns="96647" bIns="48324" numCol="1" anchor="t" anchorCtr="0" compatLnSpc="1">
            <a:prstTxWarp prst="textNoShape">
              <a:avLst/>
            </a:prstTxWarp>
          </a:bodyPr>
          <a:lstStyle>
            <a:lvl1pPr algn="r" defTabSz="968375">
              <a:defRPr sz="1300">
                <a:latin typeface="Arial Narrow" pitchFamily="34" charset="0"/>
              </a:defRPr>
            </a:lvl1pPr>
          </a:lstStyle>
          <a:p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2188" cy="3602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4" rIns="96647" bIns="483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3363"/>
            <a:ext cx="31718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4" rIns="96647" bIns="48324" numCol="1" anchor="b" anchorCtr="0" compatLnSpc="1">
            <a:prstTxWarp prst="textNoShape">
              <a:avLst/>
            </a:prstTxWarp>
          </a:bodyPr>
          <a:lstStyle>
            <a:lvl1pPr defTabSz="968375">
              <a:defRPr sz="1300">
                <a:latin typeface="Arial Narrow" pitchFamily="34" charset="0"/>
              </a:defRPr>
            </a:lvl1pPr>
          </a:lstStyle>
          <a:p>
            <a:endParaRPr lang="en-US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3363"/>
            <a:ext cx="31718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7" tIns="48324" rIns="96647" bIns="48324" numCol="1" anchor="b" anchorCtr="0" compatLnSpc="1">
            <a:prstTxWarp prst="textNoShape">
              <a:avLst/>
            </a:prstTxWarp>
          </a:bodyPr>
          <a:lstStyle>
            <a:lvl1pPr algn="r" defTabSz="968375">
              <a:defRPr sz="1300">
                <a:latin typeface="Arial Narrow" pitchFamily="34" charset="0"/>
              </a:defRPr>
            </a:lvl1pPr>
          </a:lstStyle>
          <a:p>
            <a:fld id="{F183BEBA-5A80-491C-91B4-E4EFF069480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6790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BAFD34-51E1-40D7-AC8F-53E49B2EBD60}" type="slidenum">
              <a:rPr lang="en-US"/>
              <a:pPr/>
              <a:t>7</a:t>
            </a:fld>
            <a:endParaRPr lang="en-US"/>
          </a:p>
        </p:txBody>
      </p:sp>
      <p:sp>
        <p:nvSpPr>
          <p:cNvPr id="1536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6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B1731F-7993-4C80-961A-33DF1AA19751}" type="slidenum">
              <a:rPr lang="en-US"/>
              <a:pPr/>
              <a:t>8</a:t>
            </a:fld>
            <a:endParaRPr 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1CF04E-C7E5-4707-846E-8654D3F8DA00}" type="slidenum">
              <a:rPr lang="en-US"/>
              <a:pPr/>
              <a:t>9</a:t>
            </a:fld>
            <a:endParaRPr lang="en-US"/>
          </a:p>
        </p:txBody>
      </p:sp>
      <p:sp>
        <p:nvSpPr>
          <p:cNvPr id="1741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1CF04E-C7E5-4707-846E-8654D3F8DA00}" type="slidenum">
              <a:rPr lang="en-US"/>
              <a:pPr/>
              <a:t>10</a:t>
            </a:fld>
            <a:endParaRPr lang="en-US"/>
          </a:p>
        </p:txBody>
      </p:sp>
      <p:sp>
        <p:nvSpPr>
          <p:cNvPr id="1741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1CF04E-C7E5-4707-846E-8654D3F8DA00}" type="slidenum">
              <a:rPr lang="en-US"/>
              <a:pPr/>
              <a:t>11</a:t>
            </a:fld>
            <a:endParaRPr lang="en-US"/>
          </a:p>
        </p:txBody>
      </p:sp>
      <p:sp>
        <p:nvSpPr>
          <p:cNvPr id="1741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1CF04E-C7E5-4707-846E-8654D3F8DA00}" type="slidenum">
              <a:rPr lang="en-US"/>
              <a:pPr/>
              <a:t>12</a:t>
            </a:fld>
            <a:endParaRPr lang="en-US"/>
          </a:p>
        </p:txBody>
      </p:sp>
      <p:sp>
        <p:nvSpPr>
          <p:cNvPr id="1741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0286F1-9DA2-4404-8936-05B717C2A3F6}" type="slidenum">
              <a:rPr lang="en-US"/>
              <a:pPr/>
              <a:t>13</a:t>
            </a:fld>
            <a:endParaRPr lang="en-US"/>
          </a:p>
        </p:txBody>
      </p:sp>
      <p:sp>
        <p:nvSpPr>
          <p:cNvPr id="1843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0286F1-9DA2-4404-8936-05B717C2A3F6}" type="slidenum">
              <a:rPr lang="en-US"/>
              <a:pPr/>
              <a:t>14</a:t>
            </a:fld>
            <a:endParaRPr lang="en-US"/>
          </a:p>
        </p:txBody>
      </p:sp>
      <p:sp>
        <p:nvSpPr>
          <p:cNvPr id="1843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0286F1-9DA2-4404-8936-05B717C2A3F6}" type="slidenum">
              <a:rPr lang="en-US"/>
              <a:pPr/>
              <a:t>15</a:t>
            </a:fld>
            <a:endParaRPr lang="en-US"/>
          </a:p>
        </p:txBody>
      </p:sp>
      <p:sp>
        <p:nvSpPr>
          <p:cNvPr id="1843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0286F1-9DA2-4404-8936-05B717C2A3F6}" type="slidenum">
              <a:rPr lang="en-US"/>
              <a:pPr/>
              <a:t>16</a:t>
            </a:fld>
            <a:endParaRPr lang="en-US"/>
          </a:p>
        </p:txBody>
      </p:sp>
      <p:sp>
        <p:nvSpPr>
          <p:cNvPr id="1843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3BEBA-5A80-491C-91B4-E4EFF069480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785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5DAF35-0E52-45E1-9EA2-5F8226B772E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F291C8-208C-4999-8403-0FFEBB85E92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B6D0E1-2382-472C-A814-241BF579163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7979C1-925C-48D5-B772-2257C6BCE4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C611D8-FE9A-4E7C-B1C5-F2FAA345D34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147FB2-8107-4672-856F-8B03C9F9EC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4BDE3A-663E-487E-9073-BF6CE87EBF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B9ED97-19B6-473D-83BC-5995226789A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4E7CB8-AD00-4688-8FAC-742BAC0311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9F3E96-B346-488F-87DB-F16F76FCDAA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81000"/>
            <a:ext cx="19431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81000"/>
            <a:ext cx="56769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B1EDA8-CB8F-417A-91C8-9F848508B82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371600"/>
            <a:ext cx="3810000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296826-8059-402C-ACB2-F8EA9D384BC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72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45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945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945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</a:defRPr>
            </a:lvl1pPr>
          </a:lstStyle>
          <a:p>
            <a:fld id="{E80347D7-349D-499C-9B16-BA4200597E7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8F271-FF95-4057-BE21-453A9566CF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C++ Primer (Part III)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2AEFE-C0F2-4DD8-B346-EF30121C0B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From C/Java to C++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6F2AD1-BBBC-4C24-9167-7FF42ADA7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45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37C25-11F2-48A6-8741-43248D1B2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2E2B5-461D-447F-86E6-B26643FC0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FD0C3F-97EC-4ECA-B791-6FAD270244BD}"/>
              </a:ext>
            </a:extLst>
          </p:cNvPr>
          <p:cNvSpPr/>
          <p:nvPr/>
        </p:nvSpPr>
        <p:spPr>
          <a:xfrm>
            <a:off x="3383822" y="2767280"/>
            <a:ext cx="311816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/>
              <a:t>Part III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2B3D3-9A2C-4FE4-8BE8-AFA9FA6B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709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4F8FB-DE32-4B60-BF54-DE4EBEEA9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B5A38-D9F7-4692-9D48-208095B1E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Destructors</a:t>
            </a:r>
          </a:p>
          <a:p>
            <a:r>
              <a:rPr lang="en-US" sz="3600" dirty="0">
                <a:solidFill>
                  <a:schemeClr val="tx1"/>
                </a:solidFill>
              </a:rPr>
              <a:t>Function Templates</a:t>
            </a:r>
          </a:p>
          <a:p>
            <a:r>
              <a:rPr lang="en-US" sz="3600" dirty="0">
                <a:solidFill>
                  <a:schemeClr val="tx1"/>
                </a:solidFill>
              </a:rPr>
              <a:t>Class Templates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C99CD-C0D8-4616-AE8E-C2FD6E175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291C8-208C-4999-8403-0FFEBB85E92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74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D7755-A41B-4DE7-B583-4D92D056C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8B1B0-231B-4728-9ED7-E1A843F4C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7772400" cy="15240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 destructor is a special member function that works just opposite to constructor.</a:t>
            </a:r>
          </a:p>
          <a:p>
            <a:pPr lvl="1"/>
            <a:r>
              <a:rPr lang="en-US" dirty="0"/>
              <a:t>Unlike </a:t>
            </a:r>
            <a:r>
              <a:rPr lang="en-US" b="1" dirty="0"/>
              <a:t>constructors</a:t>
            </a:r>
            <a:r>
              <a:rPr lang="en-US" dirty="0"/>
              <a:t> that are used for initializing an object, destructors destroy (or delete) the object.</a:t>
            </a:r>
          </a:p>
          <a:p>
            <a:r>
              <a:rPr lang="en-US" dirty="0">
                <a:solidFill>
                  <a:schemeClr val="tx1"/>
                </a:solidFill>
              </a:rPr>
              <a:t>Similar to constructor, the destructor name should exactly match with the class name. </a:t>
            </a:r>
          </a:p>
          <a:p>
            <a:r>
              <a:rPr lang="en-US" dirty="0">
                <a:solidFill>
                  <a:schemeClr val="tx1"/>
                </a:solidFill>
              </a:rPr>
              <a:t>A destructor declaration should always begin with the tilde(~) symbol as shown in the syntax below.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1F050-C4F6-4575-93CD-DAC9C9356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291C8-208C-4999-8403-0FFEBB85E92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85D0C3-5C51-4611-A56A-D5930D9D333A}"/>
              </a:ext>
            </a:extLst>
          </p:cNvPr>
          <p:cNvSpPr/>
          <p:nvPr/>
        </p:nvSpPr>
        <p:spPr>
          <a:xfrm>
            <a:off x="2743200" y="5115887"/>
            <a:ext cx="2895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~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class_name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//Some code   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D809C5-D6F4-4A44-AE8D-02C406205D7C}"/>
              </a:ext>
            </a:extLst>
          </p:cNvPr>
          <p:cNvSpPr/>
          <p:nvPr/>
        </p:nvSpPr>
        <p:spPr>
          <a:xfrm>
            <a:off x="838200" y="4648200"/>
            <a:ext cx="7924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// destructor definition inside the class “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class_name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5414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672A2-162D-492B-A842-C48486A9F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is destructor called?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7E06C-03F0-4A71-98BA-A925E38B0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It is called </a:t>
            </a:r>
            <a:r>
              <a:rPr lang="en-US" i="1" dirty="0">
                <a:solidFill>
                  <a:schemeClr val="tx1"/>
                </a:solidFill>
              </a:rPr>
              <a:t>automatically</a:t>
            </a:r>
            <a:r>
              <a:rPr lang="en-US" dirty="0">
                <a:solidFill>
                  <a:schemeClr val="tx1"/>
                </a:solidFill>
              </a:rPr>
              <a:t>, when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The program finished the execution.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When a scope (the { } parenthesis) containing the class object ends.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When you call the delete operator on the class object.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F158A-299B-4C95-8024-E25D2025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291C8-208C-4999-8403-0FFEBB85E92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40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5050A-F608-40BE-B954-9314EF005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071185"/>
          </a:xfrm>
        </p:spPr>
        <p:txBody>
          <a:bodyPr/>
          <a:lstStyle/>
          <a:p>
            <a:pPr algn="ctr"/>
            <a:r>
              <a:rPr lang="en-US" b="1" dirty="0"/>
              <a:t>Circular Queue in C++</a:t>
            </a:r>
            <a:br>
              <a:rPr lang="en-US" dirty="0"/>
            </a:br>
            <a:r>
              <a:rPr lang="en-US" dirty="0"/>
              <a:t>(Example in Word file)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7687F-5324-4C86-BC5E-947425CA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55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D07FC-A8C5-451B-BEEE-D65811FF5E32}" type="slidenum">
              <a:rPr lang="en-US"/>
              <a:pPr/>
              <a:t>7</a:t>
            </a:fld>
            <a:endParaRPr lang="en-US"/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17526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/>
              <a:t>Templates</a:t>
            </a:r>
            <a:br>
              <a:rPr lang="en-US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92111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638B1-675A-46D3-B6D2-3C8463640036}" type="slidenum">
              <a:rPr lang="en-US"/>
              <a:pPr/>
              <a:t>8</a:t>
            </a:fld>
            <a:endParaRPr lang="en-US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Templates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8153400" cy="4648200"/>
          </a:xfrm>
        </p:spPr>
        <p:txBody>
          <a:bodyPr/>
          <a:lstStyle/>
          <a:p>
            <a:pPr eaLnBrk="1" hangingPunct="1"/>
            <a:r>
              <a:rPr lang="en-US" dirty="0"/>
              <a:t>Type-independent patterns that can work with multiple data types.</a:t>
            </a:r>
          </a:p>
          <a:p>
            <a:pPr lvl="1" eaLnBrk="1" hangingPunct="1"/>
            <a:r>
              <a:rPr lang="en-US" dirty="0"/>
              <a:t>Generic programming</a:t>
            </a:r>
          </a:p>
          <a:p>
            <a:pPr lvl="1" eaLnBrk="1" hangingPunct="1"/>
            <a:r>
              <a:rPr lang="en-US" dirty="0"/>
              <a:t>Code reusable</a:t>
            </a:r>
          </a:p>
          <a:p>
            <a:pPr eaLnBrk="1" hangingPunct="1"/>
            <a:r>
              <a:rPr lang="en-US" dirty="0">
                <a:solidFill>
                  <a:schemeClr val="tx1"/>
                </a:solidFill>
              </a:rPr>
              <a:t>C++ Templates are an alternate to “Generics” in Java.</a:t>
            </a:r>
          </a:p>
          <a:p>
            <a:pPr eaLnBrk="1" hangingPunct="1"/>
            <a:r>
              <a:rPr lang="en-US" dirty="0"/>
              <a:t>Function Templates</a:t>
            </a:r>
          </a:p>
          <a:p>
            <a:pPr lvl="1" eaLnBrk="1" hangingPunct="1"/>
            <a:r>
              <a:rPr lang="en-US" dirty="0"/>
              <a:t>These define logic behind the algorithms that work for multiple data types.</a:t>
            </a:r>
          </a:p>
          <a:p>
            <a:pPr eaLnBrk="1" hangingPunct="1"/>
            <a:r>
              <a:rPr lang="en-US" dirty="0"/>
              <a:t>Class Templates</a:t>
            </a:r>
          </a:p>
          <a:p>
            <a:pPr lvl="1" eaLnBrk="1" hangingPunct="1"/>
            <a:r>
              <a:rPr lang="en-US" dirty="0"/>
              <a:t>These define generic class patterns into which specific data types can be plugged in to produce new classes.</a:t>
            </a:r>
          </a:p>
          <a:p>
            <a:pPr eaLnBrk="1" hangingPunct="1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7C433-86C6-4A84-B5AF-C8E607E7C006}" type="slidenum">
              <a:rPr lang="en-US"/>
              <a:pPr/>
              <a:t>9</a:t>
            </a:fld>
            <a:endParaRPr lang="en-US"/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Function and function templates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524000"/>
            <a:ext cx="6934200" cy="4876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>
                <a:solidFill>
                  <a:schemeClr val="tx1"/>
                </a:solidFill>
              </a:rPr>
              <a:t>C++ routines work on specific types. We often need to write different routines to perform the same operation on different data types.</a:t>
            </a:r>
          </a:p>
          <a:p>
            <a:pPr eaLnBrk="1" hangingPunct="1">
              <a:lnSpc>
                <a:spcPct val="80000"/>
              </a:lnSpc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sz="2800" dirty="0" err="1">
                <a:solidFill>
                  <a:schemeClr val="tx1"/>
                </a:solidFill>
              </a:rPr>
              <a:t>int</a:t>
            </a:r>
            <a:r>
              <a:rPr lang="en-US" sz="2800" dirty="0">
                <a:solidFill>
                  <a:schemeClr val="tx1"/>
                </a:solidFill>
              </a:rPr>
              <a:t> maximum(</a:t>
            </a:r>
            <a:r>
              <a:rPr lang="en-US" sz="2800" dirty="0" err="1">
                <a:solidFill>
                  <a:schemeClr val="tx1"/>
                </a:solidFill>
              </a:rPr>
              <a:t>int</a:t>
            </a:r>
            <a:r>
              <a:rPr lang="en-US" sz="2800" dirty="0">
                <a:solidFill>
                  <a:schemeClr val="tx1"/>
                </a:solidFill>
              </a:rPr>
              <a:t> a, </a:t>
            </a:r>
            <a:r>
              <a:rPr lang="en-US" sz="2800" dirty="0" err="1">
                <a:solidFill>
                  <a:schemeClr val="tx1"/>
                </a:solidFill>
              </a:rPr>
              <a:t>int</a:t>
            </a:r>
            <a:r>
              <a:rPr lang="en-US" sz="2800" dirty="0">
                <a:solidFill>
                  <a:schemeClr val="tx1"/>
                </a:solidFill>
              </a:rPr>
              <a:t> b, </a:t>
            </a:r>
            <a:r>
              <a:rPr lang="en-US" sz="2800" dirty="0" err="1">
                <a:solidFill>
                  <a:schemeClr val="tx1"/>
                </a:solidFill>
              </a:rPr>
              <a:t>int</a:t>
            </a:r>
            <a:r>
              <a:rPr lang="en-US" sz="2800" dirty="0">
                <a:solidFill>
                  <a:schemeClr val="tx1"/>
                </a:solidFill>
              </a:rPr>
              <a:t> c)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800" dirty="0">
                <a:solidFill>
                  <a:schemeClr val="tx1"/>
                </a:solidFill>
              </a:rPr>
              <a:t> {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800" dirty="0">
                <a:solidFill>
                  <a:schemeClr val="tx1"/>
                </a:solidFill>
              </a:rPr>
              <a:t>      </a:t>
            </a:r>
            <a:r>
              <a:rPr lang="en-US" sz="2800" dirty="0" err="1">
                <a:solidFill>
                  <a:schemeClr val="tx1"/>
                </a:solidFill>
              </a:rPr>
              <a:t>int</a:t>
            </a:r>
            <a:r>
              <a:rPr lang="en-US" sz="2800" dirty="0">
                <a:solidFill>
                  <a:schemeClr val="tx1"/>
                </a:solidFill>
              </a:rPr>
              <a:t> max = a;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800" dirty="0">
                <a:solidFill>
                  <a:schemeClr val="tx1"/>
                </a:solidFill>
              </a:rPr>
              <a:t>      if (b &gt; max) max = b;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800" dirty="0">
                <a:solidFill>
                  <a:schemeClr val="tx1"/>
                </a:solidFill>
              </a:rPr>
              <a:t>      if (c &gt; max) max = c;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800" dirty="0">
                <a:solidFill>
                  <a:schemeClr val="tx1"/>
                </a:solidFill>
              </a:rPr>
              <a:t>      return max;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800" dirty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7C433-86C6-4A84-B5AF-C8E607E7C006}" type="slidenum">
              <a:rPr lang="en-US"/>
              <a:pPr/>
              <a:t>10</a:t>
            </a:fld>
            <a:endParaRPr lang="en-US"/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Function and function templates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95400" y="1524000"/>
            <a:ext cx="6477000" cy="3505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None/>
            </a:pPr>
            <a:r>
              <a:rPr lang="en-US" sz="2800" dirty="0">
                <a:solidFill>
                  <a:schemeClr val="tx1"/>
                </a:solidFill>
              </a:rPr>
              <a:t>float maximum(float a, float b, float c)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800" dirty="0">
                <a:solidFill>
                  <a:schemeClr val="tx1"/>
                </a:solidFill>
              </a:rPr>
              <a:t> {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800" dirty="0">
                <a:solidFill>
                  <a:schemeClr val="tx1"/>
                </a:solidFill>
              </a:rPr>
              <a:t>      float max = a;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800" dirty="0">
                <a:solidFill>
                  <a:schemeClr val="tx1"/>
                </a:solidFill>
              </a:rPr>
              <a:t>      if (b &gt; max) max = b;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800" dirty="0">
                <a:solidFill>
                  <a:schemeClr val="tx1"/>
                </a:solidFill>
              </a:rPr>
              <a:t>      if (c &gt; max) max = c;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800" dirty="0">
                <a:solidFill>
                  <a:schemeClr val="tx1"/>
                </a:solidFill>
              </a:rPr>
              <a:t>      return max;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800" dirty="0">
                <a:solidFill>
                  <a:schemeClr val="tx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7C433-86C6-4A84-B5AF-C8E607E7C006}" type="slidenum">
              <a:rPr lang="en-US"/>
              <a:pPr/>
              <a:t>11</a:t>
            </a:fld>
            <a:endParaRPr lang="en-US"/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Function and function templates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0"/>
            <a:ext cx="5410200" cy="2590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double maximum(double a, double b, double c)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 {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      double max = a;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      if (b &gt; max) max = b;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      if (c &gt; max) max = c;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      return max;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}</a:t>
            </a:r>
          </a:p>
          <a:p>
            <a:pPr eaLnBrk="1" hangingPunct="1">
              <a:lnSpc>
                <a:spcPct val="80000"/>
              </a:lnSpc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</a:pPr>
            <a:endParaRPr lang="en-US" sz="1800" dirty="0"/>
          </a:p>
        </p:txBody>
      </p:sp>
      <p:sp>
        <p:nvSpPr>
          <p:cNvPr id="5" name="Rectangle 4"/>
          <p:cNvSpPr/>
          <p:nvPr/>
        </p:nvSpPr>
        <p:spPr>
          <a:xfrm>
            <a:off x="1143000" y="4267200"/>
            <a:ext cx="7239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1" hangingPunct="1"/>
            <a:r>
              <a:rPr lang="en-US" dirty="0"/>
              <a:t>The logic is exactly the same, but the data type is different. </a:t>
            </a:r>
          </a:p>
          <a:p>
            <a:pPr lvl="1" eaLnBrk="1" hangingPunct="1"/>
            <a:endParaRPr lang="en-US" dirty="0"/>
          </a:p>
          <a:p>
            <a:pPr lvl="1" eaLnBrk="1" hangingPunct="1"/>
            <a:r>
              <a:rPr lang="en-US" dirty="0"/>
              <a:t>Function </a:t>
            </a:r>
            <a:r>
              <a:rPr lang="en-US" dirty="0">
                <a:solidFill>
                  <a:srgbClr val="C00000"/>
                </a:solidFill>
              </a:rPr>
              <a:t>templates</a:t>
            </a:r>
            <a:r>
              <a:rPr lang="en-US" dirty="0"/>
              <a:t> allow the logic to be written once and used for all data types – </a:t>
            </a:r>
            <a:r>
              <a:rPr lang="en-US" dirty="0">
                <a:solidFill>
                  <a:srgbClr val="3333FF"/>
                </a:solidFill>
              </a:rPr>
              <a:t>generic function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7C433-86C6-4A84-B5AF-C8E607E7C006}" type="slidenum">
              <a:rPr lang="en-US"/>
              <a:pPr/>
              <a:t>12</a:t>
            </a:fld>
            <a:endParaRPr lang="en-US"/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Function Templates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371600"/>
            <a:ext cx="7543800" cy="4724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>
                <a:solidFill>
                  <a:schemeClr val="tx1"/>
                </a:solidFill>
              </a:rPr>
              <a:t>Generic function to find a maximum value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800" dirty="0">
                <a:solidFill>
                  <a:schemeClr val="tx1"/>
                </a:solidFill>
              </a:rPr>
              <a:t>    (see maximum example). </a:t>
            </a:r>
          </a:p>
          <a:p>
            <a:pPr eaLnBrk="1" hangingPunct="1">
              <a:lnSpc>
                <a:spcPct val="80000"/>
              </a:lnSpc>
            </a:pPr>
            <a:endParaRPr lang="en-US" sz="1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sz="1800" dirty="0"/>
              <a:t>Template &lt;class T&gt;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T maximum(T a, T b, T c)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 {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      T max = a;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      if (b &gt; max) max = b;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      if (c &gt; max) max = c;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      return max;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}</a:t>
            </a:r>
          </a:p>
          <a:p>
            <a:pPr eaLnBrk="1" hangingPunct="1">
              <a:lnSpc>
                <a:spcPct val="80000"/>
              </a:lnSpc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1800" dirty="0">
                <a:solidFill>
                  <a:schemeClr val="tx1"/>
                </a:solidFill>
              </a:rPr>
              <a:t>Template function itself is incomplete because the compiler will need to know the actual type to generate code. </a:t>
            </a:r>
          </a:p>
          <a:p>
            <a:pPr eaLnBrk="1" hangingPunct="1">
              <a:lnSpc>
                <a:spcPct val="80000"/>
              </a:lnSpc>
            </a:pPr>
            <a:r>
              <a:rPr lang="en-US" sz="1800" dirty="0">
                <a:solidFill>
                  <a:schemeClr val="tx1"/>
                </a:solidFill>
              </a:rPr>
              <a:t>C++ compiler will then generate the real function based on the use of the function template.</a:t>
            </a:r>
          </a:p>
          <a:p>
            <a:pPr eaLnBrk="1" hangingPunct="1">
              <a:lnSpc>
                <a:spcPct val="80000"/>
              </a:lnSpc>
            </a:pPr>
            <a:endParaRPr lang="en-US" sz="1800" dirty="0"/>
          </a:p>
          <a:p>
            <a:pPr eaLnBrk="1" hangingPunct="1">
              <a:lnSpc>
                <a:spcPct val="80000"/>
              </a:lnSpc>
            </a:pPr>
            <a:endParaRPr lang="en-US" sz="1800" dirty="0"/>
          </a:p>
          <a:p>
            <a:pPr eaLnBrk="1" hangingPunct="1">
              <a:lnSpc>
                <a:spcPct val="80000"/>
              </a:lnSpc>
            </a:pP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795C-8165-4C5D-90F9-4CD15123BBA5}" type="slidenum">
              <a:rPr lang="en-US"/>
              <a:pPr/>
              <a:t>13</a:t>
            </a:fld>
            <a:endParaRPr lang="en-US"/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Function Templates Usage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371600"/>
            <a:ext cx="7391400" cy="47244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sz="2800" dirty="0">
                <a:solidFill>
                  <a:schemeClr val="tx1"/>
                </a:solidFill>
              </a:rPr>
              <a:t>After a function template is included (or defined), the function can be used by passing parameters of real types.</a:t>
            </a:r>
          </a:p>
          <a:p>
            <a:pPr eaLnBrk="1" hangingPunct="1"/>
            <a:endParaRPr 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sz="1800" dirty="0"/>
              <a:t>Template &lt;class T&gt;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T maximum(T a, T b, T c) { … }</a:t>
            </a:r>
          </a:p>
          <a:p>
            <a:pPr marL="91440" indent="-274320" eaLnBrk="1" hangingPunct="1">
              <a:spcBef>
                <a:spcPts val="0"/>
              </a:spcBef>
              <a:buNone/>
            </a:pPr>
            <a:r>
              <a:rPr lang="en-US" sz="1800" dirty="0">
                <a:solidFill>
                  <a:schemeClr val="tx1"/>
                </a:solidFill>
              </a:rPr>
              <a:t>…  </a:t>
            </a:r>
          </a:p>
          <a:p>
            <a:pPr marL="91440" indent="-274320" eaLnBrk="1" hangingPunct="1">
              <a:spcBef>
                <a:spcPts val="0"/>
              </a:spcBef>
              <a:buNone/>
            </a:pPr>
            <a:r>
              <a:rPr lang="en-US" sz="1800" dirty="0" err="1">
                <a:solidFill>
                  <a:schemeClr val="tx1"/>
                </a:solidFill>
              </a:rPr>
              <a:t>int</a:t>
            </a:r>
            <a:r>
              <a:rPr lang="en-US" sz="1800" dirty="0">
                <a:solidFill>
                  <a:schemeClr val="tx1"/>
                </a:solidFill>
              </a:rPr>
              <a:t> i1, i2, i3;</a:t>
            </a:r>
          </a:p>
          <a:p>
            <a:pPr marL="91440" indent="-274320" eaLnBrk="1" hangingPunct="1">
              <a:spcBef>
                <a:spcPts val="0"/>
              </a:spcBef>
              <a:buNone/>
            </a:pPr>
            <a:r>
              <a:rPr lang="en-US" sz="1800" dirty="0">
                <a:solidFill>
                  <a:schemeClr val="tx1"/>
                </a:solidFill>
              </a:rPr>
              <a:t>…</a:t>
            </a:r>
          </a:p>
          <a:p>
            <a:pPr marL="91440" indent="-274320" eaLnBrk="1" hangingPunct="1">
              <a:spcBef>
                <a:spcPts val="0"/>
              </a:spcBef>
              <a:buNone/>
            </a:pPr>
            <a:r>
              <a:rPr lang="en-US" sz="1800" dirty="0" err="1">
                <a:solidFill>
                  <a:schemeClr val="tx1"/>
                </a:solidFill>
              </a:rPr>
              <a:t>Int</a:t>
            </a:r>
            <a:r>
              <a:rPr lang="en-US" sz="1800" dirty="0">
                <a:solidFill>
                  <a:schemeClr val="tx1"/>
                </a:solidFill>
              </a:rPr>
              <a:t> m = maximum(i1, i2, i3);</a:t>
            </a:r>
          </a:p>
          <a:p>
            <a:pPr marL="91440" indent="-274320" eaLnBrk="1" hangingPunct="1">
              <a:spcBef>
                <a:spcPts val="0"/>
              </a:spcBef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102870" indent="-285750" eaLnBrk="1" hangingPunct="1">
              <a:spcBef>
                <a:spcPts val="0"/>
              </a:spcBef>
            </a:pPr>
            <a:r>
              <a:rPr lang="en-US" sz="1800" dirty="0">
                <a:solidFill>
                  <a:schemeClr val="tx1"/>
                </a:solidFill>
              </a:rPr>
              <a:t>maximum(i1, i2, i3) will invoke the template function with T==int. The function returns a value of </a:t>
            </a:r>
            <a:r>
              <a:rPr lang="en-US" sz="1800" dirty="0" err="1">
                <a:solidFill>
                  <a:schemeClr val="tx1"/>
                </a:solidFill>
              </a:rPr>
              <a:t>int</a:t>
            </a:r>
            <a:r>
              <a:rPr lang="en-US" sz="1800" dirty="0">
                <a:solidFill>
                  <a:schemeClr val="tx1"/>
                </a:solidFill>
              </a:rPr>
              <a:t> type.</a:t>
            </a:r>
          </a:p>
          <a:p>
            <a:pPr marL="102870" indent="-285750" eaLnBrk="1" hangingPunct="1">
              <a:spcBef>
                <a:spcPts val="0"/>
              </a:spcBef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91440" indent="-274320" eaLnBrk="1" hangingPunct="1">
              <a:spcBef>
                <a:spcPts val="0"/>
              </a:spcBef>
              <a:buNone/>
            </a:pPr>
            <a:r>
              <a:rPr lang="en-US" sz="1800" dirty="0">
                <a:solidFill>
                  <a:schemeClr val="tx1"/>
                </a:solidFill>
              </a:rPr>
              <a:t>   </a:t>
            </a:r>
          </a:p>
          <a:p>
            <a:pPr marL="91440" indent="-274320" eaLnBrk="1" hangingPunct="1">
              <a:spcBef>
                <a:spcPts val="0"/>
              </a:spcBef>
              <a:buNone/>
            </a:pPr>
            <a:r>
              <a:rPr lang="en-US" sz="2000" dirty="0">
                <a:solidFill>
                  <a:schemeClr val="tx1"/>
                </a:solidFill>
              </a:rPr>
              <a:t>   </a:t>
            </a:r>
          </a:p>
          <a:p>
            <a:pPr marL="91440" indent="-274320" eaLnBrk="1" hangingPunct="1">
              <a:spcBef>
                <a:spcPts val="0"/>
              </a:spcBef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795C-8165-4C5D-90F9-4CD15123BBA5}" type="slidenum">
              <a:rPr lang="en-US"/>
              <a:pPr/>
              <a:t>14</a:t>
            </a:fld>
            <a:endParaRPr lang="en-US"/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Function Templates Usage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371600"/>
            <a:ext cx="7391400" cy="47244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sz="2800" dirty="0">
                <a:solidFill>
                  <a:schemeClr val="tx1"/>
                </a:solidFill>
              </a:rPr>
              <a:t>Each call to </a:t>
            </a:r>
            <a:r>
              <a:rPr lang="en-US" sz="2800" dirty="0">
                <a:solidFill>
                  <a:schemeClr val="tx1"/>
                </a:solidFill>
                <a:latin typeface="Courier New" pitchFamily="49" charset="0"/>
              </a:rPr>
              <a:t>maximum()</a:t>
            </a:r>
            <a:r>
              <a:rPr lang="en-US" sz="2800" dirty="0">
                <a:solidFill>
                  <a:schemeClr val="tx1"/>
                </a:solidFill>
              </a:rPr>
              <a:t> on a different data type forces the compiler to generate a different function using the template. See the maximum example.</a:t>
            </a:r>
          </a:p>
          <a:p>
            <a:pPr lvl="1" eaLnBrk="1" hangingPunct="1"/>
            <a:r>
              <a:rPr lang="en-US" dirty="0"/>
              <a:t>One copy of code for many types.</a:t>
            </a:r>
            <a:endParaRPr lang="en-US" dirty="0">
              <a:solidFill>
                <a:schemeClr val="tx1"/>
              </a:solidFill>
            </a:endParaRPr>
          </a:p>
          <a:p>
            <a:pPr eaLnBrk="1" hangingPunct="1"/>
            <a:endParaRPr lang="en-US" sz="2800" dirty="0">
              <a:solidFill>
                <a:schemeClr val="tx1"/>
              </a:solidFill>
            </a:endParaRPr>
          </a:p>
          <a:p>
            <a:pPr marL="91440" indent="-274320" eaLnBrk="1" hangingPunct="1">
              <a:spcBef>
                <a:spcPts val="0"/>
              </a:spcBef>
              <a:buNone/>
            </a:pPr>
            <a:r>
              <a:rPr lang="en-US" sz="2800" dirty="0">
                <a:solidFill>
                  <a:schemeClr val="tx1"/>
                </a:solidFill>
              </a:rPr>
              <a:t>  </a:t>
            </a:r>
            <a:r>
              <a:rPr lang="en-US" sz="2000" dirty="0" err="1">
                <a:solidFill>
                  <a:schemeClr val="tx1"/>
                </a:solidFill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 i1, i2, i3;</a:t>
            </a:r>
          </a:p>
          <a:p>
            <a:pPr marL="91440" indent="-274320" eaLnBrk="1" hangingPunct="1">
              <a:spcBef>
                <a:spcPts val="0"/>
              </a:spcBef>
              <a:buNone/>
            </a:pPr>
            <a:r>
              <a:rPr lang="en-US" sz="2000" dirty="0">
                <a:solidFill>
                  <a:schemeClr val="tx1"/>
                </a:solidFill>
              </a:rPr>
              <a:t>   // invoke </a:t>
            </a:r>
            <a:r>
              <a:rPr lang="en-US" sz="2000" dirty="0" err="1">
                <a:solidFill>
                  <a:schemeClr val="tx1"/>
                </a:solidFill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 version of maximum</a:t>
            </a:r>
          </a:p>
          <a:p>
            <a:pPr marL="91440" indent="-274320" eaLnBrk="1" hangingPunct="1">
              <a:spcBef>
                <a:spcPts val="0"/>
              </a:spcBef>
              <a:buNone/>
            </a:pPr>
            <a:r>
              <a:rPr lang="en-US" sz="2000" dirty="0">
                <a:solidFill>
                  <a:schemeClr val="tx1"/>
                </a:solidFill>
              </a:rPr>
              <a:t>   </a:t>
            </a:r>
            <a:r>
              <a:rPr lang="en-US" sz="2000" dirty="0" err="1">
                <a:solidFill>
                  <a:schemeClr val="tx1"/>
                </a:solidFill>
              </a:rPr>
              <a:t>cout</a:t>
            </a:r>
            <a:r>
              <a:rPr lang="en-US" sz="2000" dirty="0">
                <a:solidFill>
                  <a:schemeClr val="tx1"/>
                </a:solidFill>
              </a:rPr>
              <a:t> &lt;&lt; "The maximum integer value is: "</a:t>
            </a:r>
          </a:p>
          <a:p>
            <a:pPr marL="91440" indent="-274320" eaLnBrk="1" hangingPunct="1">
              <a:spcBef>
                <a:spcPts val="0"/>
              </a:spcBef>
              <a:buNone/>
            </a:pPr>
            <a:r>
              <a:rPr lang="en-US" sz="2000" dirty="0">
                <a:solidFill>
                  <a:schemeClr val="tx1"/>
                </a:solidFill>
              </a:rPr>
              <a:t>      &lt;&lt; maximum( i1, i2, i3 );        </a:t>
            </a:r>
          </a:p>
          <a:p>
            <a:pPr marL="91440" indent="-274320" eaLnBrk="1" hangingPunct="1">
              <a:spcBef>
                <a:spcPts val="0"/>
              </a:spcBef>
              <a:buNone/>
            </a:pPr>
            <a:r>
              <a:rPr lang="en-US" sz="2000" dirty="0">
                <a:solidFill>
                  <a:schemeClr val="tx1"/>
                </a:solidFill>
              </a:rPr>
              <a:t>   // demonstrate maximum with double values</a:t>
            </a:r>
          </a:p>
          <a:p>
            <a:pPr marL="91440" indent="-274320" eaLnBrk="1" hangingPunct="1">
              <a:spcBef>
                <a:spcPts val="0"/>
              </a:spcBef>
              <a:buNone/>
            </a:pPr>
            <a:r>
              <a:rPr lang="en-US" sz="2000" dirty="0">
                <a:solidFill>
                  <a:schemeClr val="tx1"/>
                </a:solidFill>
              </a:rPr>
              <a:t>   double d1, d2, d3;</a:t>
            </a:r>
          </a:p>
          <a:p>
            <a:pPr marL="91440" indent="-274320" eaLnBrk="1" hangingPunct="1">
              <a:spcBef>
                <a:spcPts val="0"/>
              </a:spcBef>
              <a:buNone/>
            </a:pPr>
            <a:r>
              <a:rPr lang="en-US" sz="2000" dirty="0">
                <a:solidFill>
                  <a:schemeClr val="tx1"/>
                </a:solidFill>
              </a:rPr>
              <a:t>   // invoke double version of maximum</a:t>
            </a:r>
          </a:p>
          <a:p>
            <a:pPr marL="91440" indent="-274320" eaLnBrk="1" hangingPunct="1">
              <a:spcBef>
                <a:spcPts val="0"/>
              </a:spcBef>
              <a:buNone/>
            </a:pPr>
            <a:r>
              <a:rPr lang="en-US" sz="2000" dirty="0">
                <a:solidFill>
                  <a:schemeClr val="tx1"/>
                </a:solidFill>
              </a:rPr>
              <a:t>   </a:t>
            </a:r>
            <a:r>
              <a:rPr lang="en-US" sz="2000" dirty="0" err="1">
                <a:solidFill>
                  <a:schemeClr val="tx1"/>
                </a:solidFill>
              </a:rPr>
              <a:t>cout</a:t>
            </a:r>
            <a:r>
              <a:rPr lang="en-US" sz="2000" dirty="0">
                <a:solidFill>
                  <a:schemeClr val="tx1"/>
                </a:solidFill>
              </a:rPr>
              <a:t> &lt;&lt; "The maximum double value is: "</a:t>
            </a:r>
          </a:p>
          <a:p>
            <a:pPr marL="91440" indent="-274320" eaLnBrk="1" hangingPunct="1">
              <a:spcBef>
                <a:spcPts val="0"/>
              </a:spcBef>
              <a:buNone/>
            </a:pPr>
            <a:r>
              <a:rPr lang="en-US" sz="2000" dirty="0">
                <a:solidFill>
                  <a:schemeClr val="tx1"/>
                </a:solidFill>
              </a:rPr>
              <a:t>      &lt;&lt; maximum( d1, d2, d3 );</a:t>
            </a:r>
          </a:p>
          <a:p>
            <a:pPr marL="91440" indent="-274320" eaLnBrk="1" hangingPunct="1">
              <a:spcBef>
                <a:spcPts val="0"/>
              </a:spcBef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91440" indent="-274320" eaLnBrk="1" hangingPunct="1">
              <a:spcBef>
                <a:spcPts val="0"/>
              </a:spcBef>
              <a:buNone/>
            </a:pPr>
            <a:r>
              <a:rPr lang="en-US" sz="2000" dirty="0">
                <a:solidFill>
                  <a:schemeClr val="tx1"/>
                </a:solidFill>
              </a:rPr>
              <a:t>   </a:t>
            </a:r>
          </a:p>
          <a:p>
            <a:pPr marL="91440" indent="-274320" eaLnBrk="1" hangingPunct="1">
              <a:spcBef>
                <a:spcPts val="0"/>
              </a:spcBef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9058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795C-8165-4C5D-90F9-4CD15123BBA5}" type="slidenum">
              <a:rPr lang="en-US"/>
              <a:pPr/>
              <a:t>15</a:t>
            </a:fld>
            <a:endParaRPr lang="en-US"/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Another example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371600"/>
            <a:ext cx="7848600" cy="4724400"/>
          </a:xfrm>
        </p:spPr>
        <p:txBody>
          <a:bodyPr/>
          <a:lstStyle/>
          <a:p>
            <a:pPr eaLnBrk="1" hangingPunct="1">
              <a:buNone/>
            </a:pPr>
            <a:r>
              <a:rPr lang="en-US" sz="2800" dirty="0">
                <a:solidFill>
                  <a:schemeClr val="tx1"/>
                </a:solidFill>
              </a:rPr>
              <a:t>template&lt; class T &gt; </a:t>
            </a:r>
          </a:p>
          <a:p>
            <a:pPr eaLnBrk="1" hangingPunct="1">
              <a:buNone/>
            </a:pPr>
            <a:r>
              <a:rPr lang="en-US" sz="2800" dirty="0">
                <a:solidFill>
                  <a:schemeClr val="tx1"/>
                </a:solidFill>
              </a:rPr>
              <a:t>void </a:t>
            </a:r>
            <a:r>
              <a:rPr lang="en-US" sz="2800" dirty="0" err="1">
                <a:solidFill>
                  <a:schemeClr val="tx1"/>
                </a:solidFill>
              </a:rPr>
              <a:t>printArray</a:t>
            </a:r>
            <a:r>
              <a:rPr lang="en-US" sz="2800" dirty="0">
                <a:solidFill>
                  <a:schemeClr val="tx1"/>
                </a:solidFill>
              </a:rPr>
              <a:t>( const T *array, const </a:t>
            </a:r>
            <a:r>
              <a:rPr lang="en-US" sz="2800" dirty="0" err="1">
                <a:solidFill>
                  <a:schemeClr val="tx1"/>
                </a:solidFill>
              </a:rPr>
              <a:t>int</a:t>
            </a:r>
            <a:r>
              <a:rPr lang="en-US" sz="2800" dirty="0">
                <a:solidFill>
                  <a:schemeClr val="tx1"/>
                </a:solidFill>
              </a:rPr>
              <a:t> count ) </a:t>
            </a:r>
          </a:p>
          <a:p>
            <a:pPr eaLnBrk="1" hangingPunct="1">
              <a:buNone/>
            </a:pPr>
            <a:r>
              <a:rPr lang="en-US" sz="2800" dirty="0">
                <a:solidFill>
                  <a:schemeClr val="tx1"/>
                </a:solidFill>
              </a:rPr>
              <a:t>{ </a:t>
            </a:r>
          </a:p>
          <a:p>
            <a:pPr eaLnBrk="1" hangingPunct="1">
              <a:buNone/>
            </a:pPr>
            <a:r>
              <a:rPr lang="en-US" sz="2800" dirty="0">
                <a:solidFill>
                  <a:schemeClr val="tx1"/>
                </a:solidFill>
              </a:rPr>
              <a:t>   for ( </a:t>
            </a:r>
            <a:r>
              <a:rPr lang="en-US" sz="2800" dirty="0" err="1">
                <a:solidFill>
                  <a:schemeClr val="tx1"/>
                </a:solidFill>
              </a:rPr>
              <a:t>int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i</a:t>
            </a:r>
            <a:r>
              <a:rPr lang="en-US" sz="2800" dirty="0">
                <a:solidFill>
                  <a:schemeClr val="tx1"/>
                </a:solidFill>
              </a:rPr>
              <a:t> = 0; </a:t>
            </a:r>
            <a:r>
              <a:rPr lang="en-US" sz="2800" dirty="0" err="1">
                <a:solidFill>
                  <a:schemeClr val="tx1"/>
                </a:solidFill>
              </a:rPr>
              <a:t>i</a:t>
            </a:r>
            <a:r>
              <a:rPr lang="en-US" sz="2800" dirty="0">
                <a:solidFill>
                  <a:schemeClr val="tx1"/>
                </a:solidFill>
              </a:rPr>
              <a:t> &lt; count; </a:t>
            </a:r>
            <a:r>
              <a:rPr lang="en-US" sz="2800" dirty="0" err="1">
                <a:solidFill>
                  <a:schemeClr val="tx1"/>
                </a:solidFill>
              </a:rPr>
              <a:t>i</a:t>
            </a:r>
            <a:r>
              <a:rPr lang="en-US" sz="2800" dirty="0">
                <a:solidFill>
                  <a:schemeClr val="tx1"/>
                </a:solidFill>
              </a:rPr>
              <a:t>++ ) </a:t>
            </a:r>
          </a:p>
          <a:p>
            <a:pPr eaLnBrk="1" hangingPunct="1">
              <a:buNone/>
            </a:pPr>
            <a:r>
              <a:rPr lang="en-US" sz="2800" dirty="0">
                <a:solidFill>
                  <a:schemeClr val="tx1"/>
                </a:solidFill>
              </a:rPr>
              <a:t>      </a:t>
            </a:r>
            <a:r>
              <a:rPr lang="en-US" sz="2800" dirty="0" err="1">
                <a:solidFill>
                  <a:schemeClr val="tx1"/>
                </a:solidFill>
              </a:rPr>
              <a:t>cout</a:t>
            </a:r>
            <a:r>
              <a:rPr lang="en-US" sz="2800" dirty="0">
                <a:solidFill>
                  <a:schemeClr val="tx1"/>
                </a:solidFill>
              </a:rPr>
              <a:t> &lt;&lt; array[ </a:t>
            </a:r>
            <a:r>
              <a:rPr lang="en-US" sz="2800" dirty="0" err="1">
                <a:solidFill>
                  <a:schemeClr val="tx1"/>
                </a:solidFill>
              </a:rPr>
              <a:t>i</a:t>
            </a:r>
            <a:r>
              <a:rPr lang="en-US" sz="2800" dirty="0">
                <a:solidFill>
                  <a:schemeClr val="tx1"/>
                </a:solidFill>
              </a:rPr>
              <a:t> ] &lt;&lt; " "; </a:t>
            </a:r>
            <a:r>
              <a:rPr lang="en-US" sz="2800" dirty="0" err="1">
                <a:solidFill>
                  <a:schemeClr val="tx1"/>
                </a:solidFill>
              </a:rPr>
              <a:t>cout</a:t>
            </a:r>
            <a:r>
              <a:rPr lang="en-US" sz="2800" dirty="0">
                <a:solidFill>
                  <a:schemeClr val="tx1"/>
                </a:solidFill>
              </a:rPr>
              <a:t> &lt;&lt; </a:t>
            </a:r>
            <a:r>
              <a:rPr lang="en-US" sz="2800" dirty="0" err="1">
                <a:solidFill>
                  <a:schemeClr val="tx1"/>
                </a:solidFill>
              </a:rPr>
              <a:t>endl</a:t>
            </a:r>
            <a:r>
              <a:rPr lang="en-US" sz="2800" dirty="0">
                <a:solidFill>
                  <a:schemeClr val="tx1"/>
                </a:solidFill>
              </a:rPr>
              <a:t>; </a:t>
            </a:r>
          </a:p>
          <a:p>
            <a:pPr eaLnBrk="1" hangingPunct="1">
              <a:buNone/>
            </a:pPr>
            <a:r>
              <a:rPr lang="en-US" sz="2800" dirty="0">
                <a:solidFill>
                  <a:schemeClr val="tx1"/>
                </a:solidFill>
              </a:rPr>
              <a:t>} </a:t>
            </a:r>
          </a:p>
          <a:p>
            <a:pPr eaLnBrk="1" hangingPunct="1"/>
            <a:endParaRPr 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0795C-8165-4C5D-90F9-4CD15123BBA5}" type="slidenum">
              <a:rPr lang="en-US"/>
              <a:pPr/>
              <a:t>16</a:t>
            </a:fld>
            <a:endParaRPr lang="en-US"/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Usage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95400"/>
            <a:ext cx="7848600" cy="4724400"/>
          </a:xfrm>
        </p:spPr>
        <p:txBody>
          <a:bodyPr>
            <a:normAutofit lnSpcReduction="10000"/>
          </a:bodyPr>
          <a:lstStyle/>
          <a:p>
            <a:pPr eaLnBrk="1" hangingPunct="1">
              <a:buNone/>
            </a:pPr>
            <a:r>
              <a:rPr lang="en-US" sz="2800" dirty="0">
                <a:solidFill>
                  <a:schemeClr val="tx1"/>
                </a:solidFill>
              </a:rPr>
              <a:t>template&lt; class T &gt; </a:t>
            </a:r>
          </a:p>
          <a:p>
            <a:pPr eaLnBrk="1" hangingPunct="1">
              <a:buNone/>
            </a:pPr>
            <a:r>
              <a:rPr lang="en-US" sz="2800" dirty="0">
                <a:solidFill>
                  <a:schemeClr val="tx1"/>
                </a:solidFill>
              </a:rPr>
              <a:t>void </a:t>
            </a:r>
            <a:r>
              <a:rPr lang="en-US" sz="2800" dirty="0" err="1">
                <a:solidFill>
                  <a:schemeClr val="tx1"/>
                </a:solidFill>
              </a:rPr>
              <a:t>printArray</a:t>
            </a:r>
            <a:r>
              <a:rPr lang="en-US" sz="2800" dirty="0">
                <a:solidFill>
                  <a:schemeClr val="tx1"/>
                </a:solidFill>
              </a:rPr>
              <a:t>( const T *array, const </a:t>
            </a:r>
            <a:r>
              <a:rPr lang="en-US" sz="2800" dirty="0" err="1">
                <a:solidFill>
                  <a:schemeClr val="tx1"/>
                </a:solidFill>
              </a:rPr>
              <a:t>int</a:t>
            </a:r>
            <a:r>
              <a:rPr lang="en-US" sz="2800" dirty="0">
                <a:solidFill>
                  <a:schemeClr val="tx1"/>
                </a:solidFill>
              </a:rPr>
              <a:t> count );</a:t>
            </a:r>
          </a:p>
          <a:p>
            <a:pPr eaLnBrk="1" hangingPunct="1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sz="2800" dirty="0">
                <a:solidFill>
                  <a:schemeClr val="tx1"/>
                </a:solidFill>
              </a:rPr>
              <a:t>char  cc[100];</a:t>
            </a:r>
          </a:p>
          <a:p>
            <a:pPr eaLnBrk="1" hangingPunct="1">
              <a:buNone/>
            </a:pPr>
            <a:r>
              <a:rPr lang="en-US" sz="2800" dirty="0" err="1">
                <a:solidFill>
                  <a:schemeClr val="tx1"/>
                </a:solidFill>
              </a:rPr>
              <a:t>int</a:t>
            </a:r>
            <a:r>
              <a:rPr lang="en-US" sz="2800" dirty="0">
                <a:solidFill>
                  <a:schemeClr val="tx1"/>
                </a:solidFill>
              </a:rPr>
              <a:t>      ii[100]; </a:t>
            </a:r>
          </a:p>
          <a:p>
            <a:pPr eaLnBrk="1" hangingPunct="1">
              <a:buNone/>
            </a:pPr>
            <a:r>
              <a:rPr lang="en-US" sz="2800" dirty="0">
                <a:solidFill>
                  <a:schemeClr val="tx1"/>
                </a:solidFill>
              </a:rPr>
              <a:t>double </a:t>
            </a:r>
            <a:r>
              <a:rPr lang="en-US" sz="2800" dirty="0" err="1">
                <a:solidFill>
                  <a:schemeClr val="tx1"/>
                </a:solidFill>
              </a:rPr>
              <a:t>dd</a:t>
            </a:r>
            <a:r>
              <a:rPr lang="en-US" sz="2800" dirty="0">
                <a:solidFill>
                  <a:schemeClr val="tx1"/>
                </a:solidFill>
              </a:rPr>
              <a:t>[100];</a:t>
            </a:r>
          </a:p>
          <a:p>
            <a:pPr marL="0" indent="0" eaLnBrk="1" hangingPunct="1">
              <a:buNone/>
            </a:pPr>
            <a:r>
              <a:rPr lang="en-US" sz="2800" dirty="0">
                <a:solidFill>
                  <a:schemeClr val="tx1"/>
                </a:solidFill>
              </a:rPr>
              <a:t>……</a:t>
            </a:r>
          </a:p>
          <a:p>
            <a:pPr marL="0" indent="0" eaLnBrk="1" hangingPunct="1">
              <a:buNone/>
            </a:pPr>
            <a:r>
              <a:rPr lang="en-US" sz="2800" dirty="0" err="1">
                <a:solidFill>
                  <a:schemeClr val="tx1"/>
                </a:solidFill>
              </a:rPr>
              <a:t>printArray</a:t>
            </a:r>
            <a:r>
              <a:rPr lang="en-US" sz="2800" dirty="0">
                <a:solidFill>
                  <a:schemeClr val="tx1"/>
                </a:solidFill>
              </a:rPr>
              <a:t>(cc, 100);</a:t>
            </a:r>
          </a:p>
          <a:p>
            <a:pPr marL="0" indent="0" eaLnBrk="1" hangingPunct="1">
              <a:buNone/>
            </a:pPr>
            <a:r>
              <a:rPr lang="en-US" sz="2800" dirty="0" err="1">
                <a:solidFill>
                  <a:schemeClr val="tx1"/>
                </a:solidFill>
              </a:rPr>
              <a:t>printArray</a:t>
            </a:r>
            <a:r>
              <a:rPr lang="en-US" sz="2800" dirty="0">
                <a:solidFill>
                  <a:schemeClr val="tx1"/>
                </a:solidFill>
              </a:rPr>
              <a:t>(ii, 100);</a:t>
            </a:r>
          </a:p>
          <a:p>
            <a:pPr marL="0" indent="0" eaLnBrk="1" hangingPunct="1">
              <a:buNone/>
            </a:pPr>
            <a:r>
              <a:rPr lang="en-US" sz="2800" dirty="0" err="1">
                <a:solidFill>
                  <a:schemeClr val="tx1"/>
                </a:solidFill>
              </a:rPr>
              <a:t>printArray</a:t>
            </a:r>
            <a:r>
              <a:rPr lang="en-US" sz="2800" dirty="0">
                <a:solidFill>
                  <a:schemeClr val="tx1"/>
                </a:solidFill>
              </a:rPr>
              <a:t>(</a:t>
            </a:r>
            <a:r>
              <a:rPr lang="en-US" sz="2800" dirty="0" err="1">
                <a:solidFill>
                  <a:schemeClr val="tx1"/>
                </a:solidFill>
              </a:rPr>
              <a:t>dd</a:t>
            </a:r>
            <a:r>
              <a:rPr lang="en-US" sz="2800" dirty="0">
                <a:solidFill>
                  <a:schemeClr val="tx1"/>
                </a:solidFill>
              </a:rPr>
              <a:t>, 100);</a:t>
            </a:r>
          </a:p>
        </p:txBody>
      </p:sp>
    </p:spTree>
    <p:extLst>
      <p:ext uri="{BB962C8B-B14F-4D97-AF65-F5344CB8AC3E}">
        <p14:creationId xmlns:p14="http://schemas.microsoft.com/office/powerpoint/2010/main" val="2623512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So far the classes that we define use fix data types.</a:t>
            </a:r>
          </a:p>
          <a:p>
            <a:r>
              <a:rPr lang="en-US" dirty="0">
                <a:solidFill>
                  <a:schemeClr val="tx1"/>
                </a:solidFill>
              </a:rPr>
              <a:t>Sometime is useful to allow storage in a class for different data types.</a:t>
            </a:r>
          </a:p>
          <a:p>
            <a:r>
              <a:rPr lang="en-US" dirty="0">
                <a:solidFill>
                  <a:schemeClr val="tx1"/>
                </a:solidFill>
              </a:rPr>
              <a:t>See </a:t>
            </a:r>
            <a:r>
              <a:rPr lang="en-US" b="1" dirty="0">
                <a:solidFill>
                  <a:schemeClr val="tx1"/>
                </a:solidFill>
              </a:rPr>
              <a:t>“Circular Queue (char) in C++”</a:t>
            </a:r>
            <a:r>
              <a:rPr lang="en-US" dirty="0">
                <a:solidFill>
                  <a:schemeClr val="tx1"/>
                </a:solidFill>
              </a:rPr>
              <a:t> (a queue of char type elements) example</a:t>
            </a:r>
          </a:p>
          <a:p>
            <a:pPr lvl="1"/>
            <a:r>
              <a:rPr lang="en-US" dirty="0"/>
              <a:t>What if we want to make a circular queue of double type?</a:t>
            </a:r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/>
              <a:t>Copy paste the whole file and replace int/char with double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291C8-208C-4999-8403-0FFEBB85E92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5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5050A-F608-40BE-B954-9314EF005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071185"/>
          </a:xfrm>
        </p:spPr>
        <p:txBody>
          <a:bodyPr/>
          <a:lstStyle/>
          <a:p>
            <a:pPr algn="ctr"/>
            <a:r>
              <a:rPr lang="en-US" b="1" dirty="0"/>
              <a:t>Circular Queue (char) in C++</a:t>
            </a:r>
            <a:br>
              <a:rPr lang="en-US" dirty="0"/>
            </a:br>
            <a:r>
              <a:rPr lang="en-US" dirty="0"/>
              <a:t>(Example in Word file)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7687F-5324-4C86-BC5E-947425CA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424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800" dirty="0">
              <a:solidFill>
                <a:schemeClr val="tx1"/>
              </a:solidFill>
            </a:endParaRPr>
          </a:p>
          <a:p>
            <a:endParaRPr lang="en-US" sz="2800" dirty="0">
              <a:solidFill>
                <a:schemeClr val="tx1"/>
              </a:solidFill>
            </a:endParaRP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Function templates allow writing generic functions that work on many types.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Same idea applies to defining generic classes that work with many types  -- extract the type to be a template to make generic classes.</a:t>
            </a:r>
          </a:p>
          <a:p>
            <a:pPr lvl="1"/>
            <a:r>
              <a:rPr lang="en-US" sz="2400" dirty="0"/>
              <a:t>See </a:t>
            </a:r>
            <a:r>
              <a:rPr lang="en-US" sz="2400" b="1" dirty="0"/>
              <a:t>“Circular Queue (template) in C++”</a:t>
            </a:r>
          </a:p>
          <a:p>
            <a:pPr lvl="1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291C8-208C-4999-8403-0FFEBB85E92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97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5050A-F608-40BE-B954-9314EF005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071185"/>
          </a:xfrm>
        </p:spPr>
        <p:txBody>
          <a:bodyPr/>
          <a:lstStyle/>
          <a:p>
            <a:pPr algn="ctr"/>
            <a:r>
              <a:rPr lang="en-US" b="1" dirty="0"/>
              <a:t>Circular Queue (template) in C++</a:t>
            </a:r>
            <a:br>
              <a:rPr lang="en-US" dirty="0"/>
            </a:br>
            <a:r>
              <a:rPr lang="en-US" dirty="0"/>
              <a:t>(Example in Word file)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7687F-5324-4C86-BC5E-947425CA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563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5715000"/>
          </a:xfrm>
        </p:spPr>
        <p:txBody>
          <a:bodyPr/>
          <a:lstStyle/>
          <a:p>
            <a:r>
              <a:rPr lang="en-US" dirty="0"/>
              <a:t>To make your class a template class, prefix the class definition with the syntax: </a:t>
            </a:r>
          </a:p>
          <a:p>
            <a:pPr marL="400050" lvl="1" indent="0">
              <a:buNone/>
            </a:pPr>
            <a:r>
              <a:rPr lang="en-US" dirty="0"/>
              <a:t>template&lt; class T &gt;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Here T is just a type parameter. Like a function parameter, it is a place holder. Use it inside the class, wherever a generic type is expected.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When the class is instantiated, T is replaced by a real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291C8-208C-4999-8403-0FFEBB85E92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90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57150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To access a member function (outside class), use the following syntax:</a:t>
            </a:r>
          </a:p>
          <a:p>
            <a:pPr lvl="1"/>
            <a:r>
              <a:rPr lang="en-US" dirty="0"/>
              <a:t>   template&lt;class T&gt;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/>
              <a:t>className</a:t>
            </a:r>
            <a:r>
              <a:rPr lang="en-US" dirty="0"/>
              <a:t>&lt; T &gt;:: </a:t>
            </a:r>
            <a:r>
              <a:rPr lang="en-US" dirty="0" err="1"/>
              <a:t>memberName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E.g.</a:t>
            </a:r>
          </a:p>
          <a:p>
            <a:pPr marL="857250" lvl="2" indent="0">
              <a:buNone/>
            </a:pPr>
            <a:r>
              <a:rPr lang="en-US" dirty="0"/>
              <a:t> </a:t>
            </a:r>
            <a:r>
              <a:rPr lang="en-US" sz="2000" dirty="0"/>
              <a:t>template&lt;class T&gt;</a:t>
            </a:r>
          </a:p>
          <a:p>
            <a:pPr marL="857250" lvl="2" indent="0">
              <a:buNone/>
            </a:pPr>
            <a:r>
              <a:rPr lang="en-US" sz="2000" dirty="0"/>
              <a:t> queue &lt; T &gt; :: queue() { //defining a constructor }</a:t>
            </a:r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Using the class template to create an object/instance of a template class: 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ClassName</a:t>
            </a:r>
            <a:r>
              <a:rPr lang="en-US" dirty="0">
                <a:solidFill>
                  <a:schemeClr val="tx1"/>
                </a:solidFill>
              </a:rPr>
              <a:t>&lt;real type&gt; variable;</a:t>
            </a:r>
          </a:p>
          <a:p>
            <a:pPr lvl="1"/>
            <a:r>
              <a:rPr lang="en-US" dirty="0"/>
              <a:t>queue &lt; char &gt; queue1; // create an object on stack</a:t>
            </a:r>
          </a:p>
          <a:p>
            <a:pPr marL="457200" lvl="1" indent="0">
              <a:buNone/>
            </a:pPr>
            <a:r>
              <a:rPr lang="en-US" dirty="0"/>
              <a:t>		OR </a:t>
            </a:r>
            <a:r>
              <a:rPr lang="fr-FR" dirty="0"/>
              <a:t> </a:t>
            </a:r>
          </a:p>
          <a:p>
            <a:pPr lvl="1"/>
            <a:r>
              <a:rPr lang="fr-FR" dirty="0"/>
              <a:t>queue&lt;char&gt;* </a:t>
            </a:r>
            <a:r>
              <a:rPr lang="fr-FR" dirty="0" err="1"/>
              <a:t>qp</a:t>
            </a:r>
            <a:r>
              <a:rPr lang="fr-FR" dirty="0"/>
              <a:t> = new queue&lt;char&gt;(10); // </a:t>
            </a:r>
            <a:r>
              <a:rPr lang="fr-FR" dirty="0" err="1"/>
              <a:t>create</a:t>
            </a:r>
            <a:r>
              <a:rPr lang="fr-FR" dirty="0"/>
              <a:t> an </a:t>
            </a:r>
            <a:r>
              <a:rPr lang="fr-FR" dirty="0" err="1"/>
              <a:t>object</a:t>
            </a:r>
            <a:r>
              <a:rPr lang="fr-FR" dirty="0"/>
              <a:t> on </a:t>
            </a:r>
            <a:r>
              <a:rPr lang="fr-FR" dirty="0" err="1"/>
              <a:t>heap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291C8-208C-4999-8403-0FFEBB85E92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25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5715000"/>
          </a:xfrm>
        </p:spPr>
        <p:txBody>
          <a:bodyPr/>
          <a:lstStyle/>
          <a:p>
            <a:r>
              <a:rPr lang="en-US" dirty="0"/>
              <a:t>While creating templates, it is possible to specify more than one type. </a:t>
            </a:r>
          </a:p>
          <a:p>
            <a:pPr lvl="1"/>
            <a:r>
              <a:rPr lang="en-US" dirty="0"/>
              <a:t>We can use more than one generic data type in a class template. </a:t>
            </a:r>
          </a:p>
          <a:p>
            <a:r>
              <a:rPr lang="en-US" dirty="0"/>
              <a:t>They are declared as a comma-separated list within the template as below: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291C8-208C-4999-8403-0FFEBB85E92E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CA0253-FB45-463C-B40B-01054E44A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551" y="3649913"/>
            <a:ext cx="5738149" cy="282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635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5050A-F608-40BE-B954-9314EF005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071185"/>
          </a:xfrm>
        </p:spPr>
        <p:txBody>
          <a:bodyPr/>
          <a:lstStyle/>
          <a:p>
            <a:r>
              <a:rPr lang="en-US" b="1" dirty="0"/>
              <a:t>Template class with multiple type parameters</a:t>
            </a:r>
            <a:br>
              <a:rPr lang="en-US" dirty="0"/>
            </a:br>
            <a:r>
              <a:rPr lang="en-US" dirty="0"/>
              <a:t>(Example in Word file)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7687F-5324-4C86-BC5E-947425CA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3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5050A-F608-40BE-B954-9314EF005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071185"/>
          </a:xfrm>
        </p:spPr>
        <p:txBody>
          <a:bodyPr/>
          <a:lstStyle/>
          <a:p>
            <a:r>
              <a:rPr lang="en-US" b="1" dirty="0"/>
              <a:t>Lecture C++ Primer (Part III) </a:t>
            </a:r>
            <a:br>
              <a:rPr lang="en-US" b="1" dirty="0"/>
            </a:br>
            <a:r>
              <a:rPr lang="en-US" b="1" dirty="0"/>
              <a:t>END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7687F-5324-4C86-BC5E-947425CA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924F-0EFE-457B-97AD-E3772DF4EF2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820469"/>
      </p:ext>
    </p:extLst>
  </p:cSld>
  <p:clrMapOvr>
    <a:masterClrMapping/>
  </p:clrMapOvr>
</p:sld>
</file>

<file path=ppt/theme/theme1.xml><?xml version="1.0" encoding="utf-8"?>
<a:theme xmlns:a="http://schemas.openxmlformats.org/drawingml/2006/main" name="class_simple">
  <a:themeElements>
    <a:clrScheme name="class_si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ass_simpl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class_si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_si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_si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_si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_si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_si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_si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Settings\Zhenhai Duan\Application Data\Microsoft\Templates\class_simple.pot</Template>
  <TotalTime>1952</TotalTime>
  <Words>1291</Words>
  <Application>Microsoft Office PowerPoint</Application>
  <PresentationFormat>On-screen Show (4:3)</PresentationFormat>
  <Paragraphs>199</Paragraphs>
  <Slides>25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Arial Narrow</vt:lpstr>
      <vt:lpstr>Consolas</vt:lpstr>
      <vt:lpstr>Courier New</vt:lpstr>
      <vt:lpstr>Times New Roman</vt:lpstr>
      <vt:lpstr>class_simple</vt:lpstr>
      <vt:lpstr>C++ Primer (Part III)</vt:lpstr>
      <vt:lpstr>PowerPoint Presentation</vt:lpstr>
      <vt:lpstr>Outline</vt:lpstr>
      <vt:lpstr>Destructor</vt:lpstr>
      <vt:lpstr>When is destructor called?</vt:lpstr>
      <vt:lpstr>Circular Queue in C++ (Example in Word file)</vt:lpstr>
      <vt:lpstr>Templates </vt:lpstr>
      <vt:lpstr>Templates</vt:lpstr>
      <vt:lpstr>Function and function templates</vt:lpstr>
      <vt:lpstr>Function and function templates</vt:lpstr>
      <vt:lpstr>Function and function templates</vt:lpstr>
      <vt:lpstr>Function Templates</vt:lpstr>
      <vt:lpstr>Function Templates Usage</vt:lpstr>
      <vt:lpstr>Function Templates Usage</vt:lpstr>
      <vt:lpstr>Another example</vt:lpstr>
      <vt:lpstr>Usage</vt:lpstr>
      <vt:lpstr>Class template</vt:lpstr>
      <vt:lpstr>Circular Queue (char) in C++ (Example in Word file)</vt:lpstr>
      <vt:lpstr>Class template</vt:lpstr>
      <vt:lpstr>Circular Queue (template) in C++ (Example in Word file)</vt:lpstr>
      <vt:lpstr>Class template</vt:lpstr>
      <vt:lpstr>Class template</vt:lpstr>
      <vt:lpstr>Class template</vt:lpstr>
      <vt:lpstr>Template class with multiple type parameters (Example in Word file)</vt:lpstr>
      <vt:lpstr>Lecture C++ Primer (Part III) 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Aksam</dc:creator>
  <cp:lastModifiedBy>Aksam</cp:lastModifiedBy>
  <cp:revision>544</cp:revision>
  <dcterms:created xsi:type="dcterms:W3CDTF">1601-01-01T00:00:00Z</dcterms:created>
  <dcterms:modified xsi:type="dcterms:W3CDTF">2020-10-12T12:05:10Z</dcterms:modified>
</cp:coreProperties>
</file>