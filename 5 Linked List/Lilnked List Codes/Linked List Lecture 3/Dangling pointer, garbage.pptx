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464" r:id="rId2"/>
    <p:sldId id="428" r:id="rId3"/>
    <p:sldId id="429" r:id="rId4"/>
    <p:sldId id="430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342" autoAdjust="0"/>
  </p:normalViewPr>
  <p:slideViewPr>
    <p:cSldViewPr>
      <p:cViewPr varScale="1">
        <p:scale>
          <a:sx n="86" d="100"/>
          <a:sy n="86" d="100"/>
        </p:scale>
        <p:origin x="63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4A26B-89A5-4723-AF52-EE3362430EE4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ECAFD-70C5-470D-8745-38DF4EB1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3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ECAFD-70C5-470D-8745-38DF4EB13A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96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ECAFD-70C5-470D-8745-38DF4EB13A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70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ECAFD-70C5-470D-8745-38DF4EB13A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34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ECAFD-70C5-470D-8745-38DF4EB13A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8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ECAFD-70C5-470D-8745-38DF4EB13A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53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ECAFD-70C5-470D-8745-38DF4EB13A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69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ECAFD-70C5-470D-8745-38DF4EB13A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ED13D-12A4-4BA0-9158-656D2989DA0F}" type="datetime1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7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6392E-4488-4AC6-95FB-048773937A0B}" type="datetime1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6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B07D5-0110-45AF-84E0-DFCFFF62E6CC}" type="datetime1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9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8641C-EF83-4009-A022-C3EE1489C643}" type="datetime1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42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2401B-C05C-4D2D-8F47-A823F299E134}" type="datetime1">
              <a:rPr lang="en-US" smtClean="0"/>
              <a:t>11/2/2020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5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B13F-9203-4FFC-BFCD-C850E25210ED}" type="datetime1">
              <a:rPr lang="en-US" smtClean="0"/>
              <a:t>11/2/2020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89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74B8-10E3-4B39-8758-1E4E76628733}" type="datetime1">
              <a:rPr lang="en-US" smtClean="0"/>
              <a:t>11/2/2020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09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EA51E-EA15-4EF3-8142-FBA6012C066C}" type="datetime1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9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D4D6-6231-4D77-9AE7-661A3C1A67D3}" type="datetime1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1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AD64-347B-4F53-A879-B68109552EC9}" type="datetime1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9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DA03-25E0-42B6-95B4-35D840AADD4C}" type="datetime1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4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6F0B1-86A9-411C-9B20-E543870176E4}" type="datetime1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995059" cy="99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7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24000"/>
            <a:ext cx="876300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Structures and Algorithms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Dangling Pointer</a:t>
            </a:r>
            <a:r>
              <a:rPr lang="en-US" sz="3600" b="1">
                <a:latin typeface="Times New Roman" pitchFamily="18" charset="0"/>
                <a:cs typeface="Times New Roman" pitchFamily="18" charset="0"/>
              </a:rPr>
              <a:t>, Garbage Memory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Farrukh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Zeshan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53897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Points to Remember while implementing linked list (in fact any dynamic data structure) using pointers: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Space may be acquired at run-time on request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free store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(heap) using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new.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At a point in time when a memory area pointed by a pointer is no longer required, it can be returned back to the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free store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(heap) using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should always return storage after we no longer need it.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Once an area is freed, it is improper and quite dangerous to use it. 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US" sz="3600" b="1">
                <a:latin typeface="Times New Roman" pitchFamily="18" charset="0"/>
                <a:cs typeface="Times New Roman" pitchFamily="18" charset="0"/>
              </a:rPr>
              <a:t>Linked List - Implementation using Dynamically Allocated Storage</a:t>
            </a:r>
            <a:r>
              <a:rPr lang="en-US" sz="360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153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Acquiring Space from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free store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at run-time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31497" y="2558534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042214" y="2134252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ᴓ</a:t>
            </a:r>
          </a:p>
        </p:txBody>
      </p:sp>
      <p:sp>
        <p:nvSpPr>
          <p:cNvPr id="25" name="Rectangle 7"/>
          <p:cNvSpPr txBox="1">
            <a:spLocks noChangeArrowheads="1"/>
          </p:cNvSpPr>
          <p:nvPr/>
        </p:nvSpPr>
        <p:spPr>
          <a:xfrm>
            <a:off x="381000" y="3581400"/>
            <a:ext cx="4218983" cy="3276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 * start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= new (node);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Start-&gt;next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-&gt;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10;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" y="1371600"/>
            <a:ext cx="32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node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lvl="1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* next;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5832" y="180334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297" y="29072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1800" y="28956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10342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83897" y="3777734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7697" y="41264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77000" y="4768334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81750" y="51170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26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2" grpId="0"/>
      <p:bldP spid="13" grpId="0"/>
      <p:bldP spid="11" grpId="0"/>
      <p:bldP spid="15" grpId="0" animBg="1"/>
      <p:bldP spid="18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Returning Space to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free store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0" y="2394466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7"/>
          <p:cNvSpPr txBox="1">
            <a:spLocks noChangeArrowheads="1"/>
          </p:cNvSpPr>
          <p:nvPr/>
        </p:nvSpPr>
        <p:spPr>
          <a:xfrm>
            <a:off x="381001" y="3581400"/>
            <a:ext cx="3352800" cy="3276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 * start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= new (node);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Start-&gt;next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-&gt;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10;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1000" y="1371600"/>
            <a:ext cx="32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node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lvl="1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* next;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53000" y="27432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3733801" y="5637486"/>
            <a:ext cx="3352800" cy="1144314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delete(start);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400" y="2057400"/>
            <a:ext cx="1752600" cy="1055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31497" y="1898185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042214" y="1473903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5832" y="11430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297" y="22469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1800" y="2235251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549993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83897" y="3117385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7697" y="34661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77000" y="4107985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381750" y="44567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4150" y="51816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936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  <p:bldP spid="18" grpId="0"/>
      <p:bldP spid="19" grpId="0"/>
      <p:bldP spid="20" grpId="0"/>
      <p:bldP spid="21" grpId="0" animBg="1"/>
      <p:bldP spid="23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838200"/>
          </a:xfrm>
        </p:spPr>
        <p:txBody>
          <a:bodyPr/>
          <a:lstStyle/>
          <a:p>
            <a:pPr algn="jus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Dangling References and Garbage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5720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Dangling references creates problem for storage management and the program in execution. </a:t>
            </a:r>
          </a:p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Garbage, object that become garbage holds memory storage which can not be reallocated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776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Dangling Reference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7"/>
          <p:cNvSpPr txBox="1">
            <a:spLocks noChangeArrowheads="1"/>
          </p:cNvSpPr>
          <p:nvPr/>
        </p:nvSpPr>
        <p:spPr>
          <a:xfrm>
            <a:off x="381001" y="3581400"/>
            <a:ext cx="3352800" cy="3276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 * start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= new (node);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Start-&gt;next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-&gt;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10;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1000" y="1371600"/>
            <a:ext cx="32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node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lvl="1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* next;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3124200" y="5637486"/>
            <a:ext cx="3352800" cy="1144314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delete(start);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22097" y="2138453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032814" y="1714171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432" y="13832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5897" y="2487187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2400" y="24755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2790261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474497" y="3357653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398297" y="3706387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467600" y="4348253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372350" y="4696987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0" y="56504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6" name="Straight Arrow Connector 5"/>
          <p:cNvCxnSpPr>
            <a:stCxn id="24" idx="3"/>
          </p:cNvCxnSpPr>
          <p:nvPr/>
        </p:nvCxnSpPr>
        <p:spPr>
          <a:xfrm flipV="1">
            <a:off x="6184682" y="2475519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10200" y="3745468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33" name="Straight Arrow Connector 32"/>
          <p:cNvCxnSpPr>
            <a:stCxn id="32" idx="3"/>
          </p:cNvCxnSpPr>
          <p:nvPr/>
        </p:nvCxnSpPr>
        <p:spPr>
          <a:xfrm flipV="1">
            <a:off x="6260882" y="3430726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14800" y="33644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2600" y="4812268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37" name="Straight Arrow Connector 36"/>
          <p:cNvCxnSpPr>
            <a:stCxn id="36" idx="3"/>
          </p:cNvCxnSpPr>
          <p:nvPr/>
        </p:nvCxnSpPr>
        <p:spPr>
          <a:xfrm flipV="1">
            <a:off x="6413282" y="4497526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567200" y="44312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5650468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40" name="Straight Arrow Connector 39"/>
          <p:cNvCxnSpPr>
            <a:stCxn id="39" idx="3"/>
            <a:endCxn id="31" idx="1"/>
          </p:cNvCxnSpPr>
          <p:nvPr/>
        </p:nvCxnSpPr>
        <p:spPr>
          <a:xfrm>
            <a:off x="6565682" y="5835134"/>
            <a:ext cx="9590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19600" y="52694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47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/>
      <p:bldP spid="23" grpId="0"/>
      <p:bldP spid="24" grpId="0" animBg="1"/>
      <p:bldP spid="28" grpId="0"/>
      <p:bldP spid="30" grpId="0"/>
      <p:bldP spid="32" grpId="0" animBg="1"/>
      <p:bldP spid="36" grpId="0" animBg="1"/>
      <p:bldP spid="38" grpId="0"/>
      <p:bldP spid="39" grpId="0" animBg="1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Dangling Reference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7"/>
          <p:cNvSpPr txBox="1">
            <a:spLocks noChangeArrowheads="1"/>
          </p:cNvSpPr>
          <p:nvPr/>
        </p:nvSpPr>
        <p:spPr>
          <a:xfrm>
            <a:off x="381001" y="3581400"/>
            <a:ext cx="3352800" cy="3276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 * start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= new (node);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Start-&gt;next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-&gt;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10;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1000" y="1371600"/>
            <a:ext cx="32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node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lvl="1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* next;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3505200" y="5105400"/>
            <a:ext cx="3352800" cy="16764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delete(start);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22097" y="1974385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32814" y="1550103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432" y="12192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5897" y="23231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2400" y="2311451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0" y="2626193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474497" y="3193585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398297" y="35423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467600" y="4184185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372350" y="45329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4750" y="54864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29" name="Straight Arrow Connector 28"/>
          <p:cNvCxnSpPr>
            <a:stCxn id="21" idx="3"/>
          </p:cNvCxnSpPr>
          <p:nvPr/>
        </p:nvCxnSpPr>
        <p:spPr>
          <a:xfrm flipV="1">
            <a:off x="6184682" y="2311451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10200" y="3581400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31" name="Straight Arrow Connector 30"/>
          <p:cNvCxnSpPr>
            <a:stCxn id="30" idx="3"/>
          </p:cNvCxnSpPr>
          <p:nvPr/>
        </p:nvCxnSpPr>
        <p:spPr>
          <a:xfrm flipV="1">
            <a:off x="6260882" y="3266658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14800" y="32004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2600" y="4648200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34" name="Straight Arrow Connector 33"/>
          <p:cNvCxnSpPr>
            <a:stCxn id="33" idx="3"/>
          </p:cNvCxnSpPr>
          <p:nvPr/>
        </p:nvCxnSpPr>
        <p:spPr>
          <a:xfrm flipV="1">
            <a:off x="6413282" y="4333458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67200" y="42672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5486400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37" name="Straight Arrow Connector 36"/>
          <p:cNvCxnSpPr>
            <a:stCxn id="36" idx="3"/>
            <a:endCxn id="28" idx="1"/>
          </p:cNvCxnSpPr>
          <p:nvPr/>
        </p:nvCxnSpPr>
        <p:spPr>
          <a:xfrm>
            <a:off x="6565682" y="5671066"/>
            <a:ext cx="9590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719600" y="51054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7400" y="6400800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2000" y="60198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39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9" grpId="0"/>
      <p:bldP spid="20" grpId="0"/>
      <p:bldP spid="21" grpId="0" animBg="1"/>
      <p:bldP spid="23" grpId="0"/>
      <p:bldP spid="27" grpId="0"/>
      <p:bldP spid="30" grpId="0" animBg="1"/>
      <p:bldP spid="33" grpId="0" animBg="1"/>
      <p:bldP spid="35" grpId="0"/>
      <p:bldP spid="36" grpId="0" animBg="1"/>
      <p:bldP spid="38" grpId="0"/>
      <p:bldP spid="39" grpId="0" animBg="1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Garbage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7"/>
          <p:cNvSpPr txBox="1">
            <a:spLocks noChangeArrowheads="1"/>
          </p:cNvSpPr>
          <p:nvPr/>
        </p:nvSpPr>
        <p:spPr>
          <a:xfrm>
            <a:off x="381001" y="3581400"/>
            <a:ext cx="3352800" cy="3276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 * start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= new (node);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Start-&gt;next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-&gt;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10;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1000" y="1371600"/>
            <a:ext cx="32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node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lvl="1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* next;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22097" y="1974385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32814" y="1550103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432" y="12192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5897" y="23231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2400" y="2311451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0" y="2626193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474497" y="3193585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398297" y="35423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467600" y="4184185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372350" y="45329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29" name="Straight Arrow Connector 28"/>
          <p:cNvCxnSpPr>
            <a:stCxn id="21" idx="3"/>
          </p:cNvCxnSpPr>
          <p:nvPr/>
        </p:nvCxnSpPr>
        <p:spPr>
          <a:xfrm flipV="1">
            <a:off x="6184682" y="2311451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10200" y="3581400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31" name="Straight Arrow Connector 30"/>
          <p:cNvCxnSpPr>
            <a:stCxn id="30" idx="3"/>
          </p:cNvCxnSpPr>
          <p:nvPr/>
        </p:nvCxnSpPr>
        <p:spPr>
          <a:xfrm flipV="1">
            <a:off x="6260882" y="3266658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14800" y="32004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2600" y="4648200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34" name="Straight Arrow Connector 33"/>
          <p:cNvCxnSpPr>
            <a:stCxn id="33" idx="3"/>
          </p:cNvCxnSpPr>
          <p:nvPr/>
        </p:nvCxnSpPr>
        <p:spPr>
          <a:xfrm flipV="1">
            <a:off x="6413282" y="4333458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67200" y="42672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448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9" grpId="0"/>
      <p:bldP spid="20" grpId="0"/>
      <p:bldP spid="21" grpId="0" animBg="1"/>
      <p:bldP spid="23" grpId="0"/>
      <p:bldP spid="27" grpId="0"/>
      <p:bldP spid="30" grpId="0" animBg="1"/>
      <p:bldP spid="33" grpId="0" animBg="1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Garbage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7"/>
          <p:cNvSpPr txBox="1">
            <a:spLocks noChangeArrowheads="1"/>
          </p:cNvSpPr>
          <p:nvPr/>
        </p:nvSpPr>
        <p:spPr>
          <a:xfrm>
            <a:off x="381001" y="2971800"/>
            <a:ext cx="3352800" cy="37338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 * start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= new (node);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Start-&gt;next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-&gt;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10;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start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1000" y="1066800"/>
            <a:ext cx="32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node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lvl="1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* next;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22097" y="2290853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2814" y="1866571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46432" y="15356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5897" y="2639587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2400" y="2627919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0" y="2942661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74497" y="3510053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98297" y="3858787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467600" y="4500653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72350" y="4849387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15" name="Straight Arrow Connector 14"/>
          <p:cNvCxnSpPr>
            <a:stCxn id="10" idx="3"/>
          </p:cNvCxnSpPr>
          <p:nvPr/>
        </p:nvCxnSpPr>
        <p:spPr>
          <a:xfrm flipV="1">
            <a:off x="6184682" y="2627919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10200" y="3897868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17" name="Straight Arrow Connector 16"/>
          <p:cNvCxnSpPr>
            <a:stCxn id="16" idx="3"/>
          </p:cNvCxnSpPr>
          <p:nvPr/>
        </p:nvCxnSpPr>
        <p:spPr>
          <a:xfrm flipV="1">
            <a:off x="6260882" y="3583126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14800" y="35168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2600" y="4964668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20" name="Straight Arrow Connector 19"/>
          <p:cNvCxnSpPr>
            <a:stCxn id="19" idx="3"/>
          </p:cNvCxnSpPr>
          <p:nvPr/>
        </p:nvCxnSpPr>
        <p:spPr>
          <a:xfrm flipV="1">
            <a:off x="6413282" y="4649926"/>
            <a:ext cx="1061215" cy="4994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67200" y="45836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6031468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/>
              <a:t>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9600" y="5650468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957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 animBg="1"/>
      <p:bldP spid="12" grpId="0"/>
      <p:bldP spid="14" grpId="0"/>
      <p:bldP spid="16" grpId="0" animBg="1"/>
      <p:bldP spid="19" grpId="0" animBg="1"/>
      <p:bldP spid="21" grpId="0"/>
      <p:bldP spid="22" grpId="0" animBg="1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Garbage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0" y="2829560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181599" y="2448560"/>
            <a:ext cx="77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25" name="Rectangle 7"/>
          <p:cNvSpPr txBox="1">
            <a:spLocks noChangeArrowheads="1"/>
          </p:cNvSpPr>
          <p:nvPr/>
        </p:nvSpPr>
        <p:spPr>
          <a:xfrm>
            <a:off x="381000" y="3581400"/>
            <a:ext cx="4218983" cy="32004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 * start;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i=0;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for(i = 0; i &lt; 3; i++)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start = new (node);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 start -&gt; next = NULL;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 start -&gt;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" y="1371600"/>
            <a:ext cx="32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node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lvl="1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 * next;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>
          <a:xfrm>
            <a:off x="5740619" y="3979479"/>
            <a:ext cx="24765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62400" y="13716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0" y="1686342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cxnSp>
        <p:nvCxnSpPr>
          <p:cNvPr id="14" name="Straight Arrow Connector 13"/>
          <p:cNvCxnSpPr>
            <a:stCxn id="13" idx="2"/>
          </p:cNvCxnSpPr>
          <p:nvPr/>
        </p:nvCxnSpPr>
        <p:spPr>
          <a:xfrm flipH="1">
            <a:off x="5562600" y="2055674"/>
            <a:ext cx="196741" cy="3606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77000" y="4124960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848600" y="4124960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629400" y="3743960"/>
            <a:ext cx="93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0" y="371169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0200" y="26670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1800" y="2981742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A200</a:t>
            </a:r>
          </a:p>
        </p:txBody>
      </p:sp>
      <p:cxnSp>
        <p:nvCxnSpPr>
          <p:cNvPr id="31" name="Straight Arrow Connector 30"/>
          <p:cNvCxnSpPr>
            <a:stCxn id="30" idx="2"/>
          </p:cNvCxnSpPr>
          <p:nvPr/>
        </p:nvCxnSpPr>
        <p:spPr>
          <a:xfrm>
            <a:off x="7207141" y="3351074"/>
            <a:ext cx="717659" cy="3288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181600" y="5953760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553200" y="5953760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001000" y="5953760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ᴓ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8077200" y="558137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A300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4800" y="4495800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810542"/>
            <a:ext cx="850682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A300</a:t>
            </a:r>
          </a:p>
        </p:txBody>
      </p:sp>
      <p:cxnSp>
        <p:nvCxnSpPr>
          <p:cNvPr id="40" name="Straight Arrow Connector 39"/>
          <p:cNvCxnSpPr>
            <a:stCxn id="39" idx="2"/>
          </p:cNvCxnSpPr>
          <p:nvPr/>
        </p:nvCxnSpPr>
        <p:spPr>
          <a:xfrm>
            <a:off x="5911741" y="5179874"/>
            <a:ext cx="2305378" cy="40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10200" y="5574268"/>
            <a:ext cx="93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5600" y="554200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A200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36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" grpId="0"/>
      <p:bldP spid="13" grpId="0" animBg="1"/>
      <p:bldP spid="23" grpId="0"/>
      <p:bldP spid="24" grpId="0"/>
      <p:bldP spid="29" grpId="0"/>
      <p:bldP spid="30" grpId="0" animBg="1"/>
      <p:bldP spid="37" grpId="0"/>
      <p:bldP spid="39" grpId="0" animBg="1"/>
      <p:bldP spid="41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Dangling References and Garbage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3505200" cy="31242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node	*p, *q;</a:t>
            </a:r>
          </a:p>
          <a:p>
            <a:pPr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 = new (node);</a:t>
            </a:r>
          </a:p>
          <a:p>
            <a:pPr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 = p;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delete q;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 = NULL;</a:t>
            </a:r>
          </a:p>
          <a:p>
            <a:pPr>
              <a:buFontTx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6875" name="Group 11"/>
          <p:cNvGrpSpPr>
            <a:grpSpLocks/>
          </p:cNvGrpSpPr>
          <p:nvPr/>
        </p:nvGrpSpPr>
        <p:grpSpPr bwMode="auto">
          <a:xfrm>
            <a:off x="4953000" y="2438400"/>
            <a:ext cx="1447800" cy="990600"/>
            <a:chOff x="3120" y="1392"/>
            <a:chExt cx="912" cy="624"/>
          </a:xfrm>
        </p:grpSpPr>
        <p:sp>
          <p:nvSpPr>
            <p:cNvPr id="36869" name="Rectangle 5"/>
            <p:cNvSpPr>
              <a:spLocks noChangeArrowheads="1"/>
            </p:cNvSpPr>
            <p:nvPr/>
          </p:nvSpPr>
          <p:spPr bwMode="auto">
            <a:xfrm>
              <a:off x="3120" y="1392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latin typeface="Times New Roman" pitchFamily="18" charset="0"/>
                  <a:cs typeface="Times New Roman" pitchFamily="18" charset="0"/>
                </a:rPr>
                <a:t>p</a:t>
              </a:r>
            </a:p>
          </p:txBody>
        </p:sp>
        <p:sp>
          <p:nvSpPr>
            <p:cNvPr id="36870" name="Rectangle 6"/>
            <p:cNvSpPr>
              <a:spLocks noChangeArrowheads="1"/>
            </p:cNvSpPr>
            <p:nvPr/>
          </p:nvSpPr>
          <p:spPr bwMode="auto">
            <a:xfrm>
              <a:off x="3120" y="1776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36872" name="Line 8"/>
            <p:cNvSpPr>
              <a:spLocks noChangeShapeType="1"/>
            </p:cNvSpPr>
            <p:nvPr/>
          </p:nvSpPr>
          <p:spPr bwMode="auto">
            <a:xfrm>
              <a:off x="3600" y="148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873" name="Line 9"/>
            <p:cNvSpPr>
              <a:spLocks noChangeShapeType="1"/>
            </p:cNvSpPr>
            <p:nvPr/>
          </p:nvSpPr>
          <p:spPr bwMode="auto">
            <a:xfrm flipV="1">
              <a:off x="3600" y="1536"/>
              <a:ext cx="43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6883" name="Group 19"/>
          <p:cNvGrpSpPr>
            <a:grpSpLocks/>
          </p:cNvGrpSpPr>
          <p:nvPr/>
        </p:nvGrpSpPr>
        <p:grpSpPr bwMode="auto">
          <a:xfrm>
            <a:off x="4953000" y="4191000"/>
            <a:ext cx="1866900" cy="990600"/>
            <a:chOff x="3120" y="2496"/>
            <a:chExt cx="1176" cy="624"/>
          </a:xfrm>
        </p:grpSpPr>
        <p:sp>
          <p:nvSpPr>
            <p:cNvPr id="36877" name="Rectangle 13"/>
            <p:cNvSpPr>
              <a:spLocks noChangeArrowheads="1"/>
            </p:cNvSpPr>
            <p:nvPr/>
          </p:nvSpPr>
          <p:spPr bwMode="auto">
            <a:xfrm>
              <a:off x="3120" y="2496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latin typeface="Times New Roman" pitchFamily="18" charset="0"/>
                  <a:cs typeface="Times New Roman" pitchFamily="18" charset="0"/>
                </a:rPr>
                <a:t>p</a:t>
              </a:r>
            </a:p>
          </p:txBody>
        </p:sp>
        <p:sp>
          <p:nvSpPr>
            <p:cNvPr id="36878" name="Rectangle 14"/>
            <p:cNvSpPr>
              <a:spLocks noChangeArrowheads="1"/>
            </p:cNvSpPr>
            <p:nvPr/>
          </p:nvSpPr>
          <p:spPr bwMode="auto">
            <a:xfrm>
              <a:off x="3120" y="2880"/>
              <a:ext cx="480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36880" name="Line 16"/>
            <p:cNvSpPr>
              <a:spLocks noChangeShapeType="1"/>
            </p:cNvSpPr>
            <p:nvPr/>
          </p:nvSpPr>
          <p:spPr bwMode="auto">
            <a:xfrm>
              <a:off x="3600" y="25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881" name="Line 17"/>
            <p:cNvSpPr>
              <a:spLocks noChangeShapeType="1"/>
            </p:cNvSpPr>
            <p:nvPr/>
          </p:nvSpPr>
          <p:spPr bwMode="auto">
            <a:xfrm flipV="1">
              <a:off x="3600" y="29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882" name="Rectangle 18"/>
            <p:cNvSpPr>
              <a:spLocks noChangeArrowheads="1"/>
            </p:cNvSpPr>
            <p:nvPr/>
          </p:nvSpPr>
          <p:spPr bwMode="auto">
            <a:xfrm>
              <a:off x="4104" y="2832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</a:t>
              </a:r>
            </a:p>
          </p:txBody>
        </p:sp>
      </p:grp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77000" y="2438400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77000" y="4114800"/>
          <a:ext cx="10668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6004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Shallow 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*p = NULL, *q = NULL;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 = new(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*p = 100;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 = p;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676400"/>
            <a:ext cx="2481262" cy="2892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0064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Deep 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*p = NULL, *q = NULL;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 = new(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 = new(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*p = 100;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*q = *p;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905000"/>
            <a:ext cx="2176463" cy="1815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96000" y="3720866"/>
            <a:ext cx="838200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8063" y="3720866"/>
            <a:ext cx="838200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4259269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3.5|21.2|14.2|29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1.1|33.8|3.6|3.6|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|7.4|16.4|15|38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|1|1.1|1.3|36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17.4|8|4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9.6|7|8.6|8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43.1|19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6|0.6|1.5|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24970</TotalTime>
  <Words>719</Words>
  <Application>Microsoft Office PowerPoint</Application>
  <PresentationFormat>On-screen Show (4:3)</PresentationFormat>
  <Paragraphs>261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Data Structures and Algorithms  Dangling Pointer, Garbage Memory</vt:lpstr>
      <vt:lpstr>Linked List - Implementation using Dynamically Allocated Storage </vt:lpstr>
      <vt:lpstr>Acquiring Space from free store  at run-time</vt:lpstr>
      <vt:lpstr>Returning Space to free store  </vt:lpstr>
      <vt:lpstr>Dangling References and Garbage </vt:lpstr>
      <vt:lpstr>Dangling Reference</vt:lpstr>
      <vt:lpstr>Dangling Reference</vt:lpstr>
      <vt:lpstr>Garbage</vt:lpstr>
      <vt:lpstr>Garbage</vt:lpstr>
      <vt:lpstr>Garbage  </vt:lpstr>
      <vt:lpstr>Dangling References and Garbage</vt:lpstr>
      <vt:lpstr>Shallow Copy</vt:lpstr>
      <vt:lpstr>Deep Copy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Farrukh Zeshan</dc:creator>
  <cp:lastModifiedBy>Aksam</cp:lastModifiedBy>
  <cp:revision>478</cp:revision>
  <dcterms:created xsi:type="dcterms:W3CDTF">2020-05-06T13:05:11Z</dcterms:created>
  <dcterms:modified xsi:type="dcterms:W3CDTF">2020-11-02T10:59:28Z</dcterms:modified>
</cp:coreProperties>
</file>